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DM Sans Bold" charset="1" panose="00000000000000000000"/>
      <p:regular r:id="rId30"/>
    </p:embeddedFont>
    <p:embeddedFont>
      <p:font typeface="Aileron Bold" charset="1" panose="00000800000000000000"/>
      <p:regular r:id="rId31"/>
    </p:embeddedFont>
    <p:embeddedFont>
      <p:font typeface="Aileron" charset="1" panose="00000500000000000000"/>
      <p:regular r:id="rId32"/>
    </p:embeddedFont>
    <p:embeddedFont>
      <p:font typeface="DM Sans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embeddings/oleObject2.bin" Type="http://schemas.openxmlformats.org/officeDocument/2006/relationships/oleObject"/><Relationship Id="rId8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5.bin" Type="http://schemas.openxmlformats.org/officeDocument/2006/relationships/oleObjec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embeddings/oleObject4.bin" Type="http://schemas.openxmlformats.org/officeDocument/2006/relationships/oleObject"/><Relationship Id="rId9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embeddings/oleObject6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embeddings/oleObject7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embeddings/oleObject8.bin" Type="http://schemas.openxmlformats.org/officeDocument/2006/relationships/oleObject"/><Relationship Id="rId4" Target="../media/image5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embeddings/oleObject9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66.png" Type="http://schemas.openxmlformats.org/officeDocument/2006/relationships/image"/><Relationship Id="rId13" Target="../embeddings/oleObject10.bin" Type="http://schemas.openxmlformats.org/officeDocument/2006/relationships/oleObject"/><Relationship Id="rId2" Target="../media/image65.pn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embeddings/oleObject12.bin" Type="http://schemas.openxmlformats.org/officeDocument/2006/relationships/oleObject"/><Relationship Id="rId2" Target="../media/image8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95.png" Type="http://schemas.openxmlformats.org/officeDocument/2006/relationships/image"/><Relationship Id="rId9" Target="../embeddings/oleObject11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embeddings/oleObject13.bin" Type="http://schemas.openxmlformats.org/officeDocument/2006/relationships/oleObject"/><Relationship Id="rId8" Target="../media/image104.png" Type="http://schemas.openxmlformats.org/officeDocument/2006/relationships/image"/><Relationship Id="rId9" Target="../embeddings/oleObject14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2" Target="../media/image105.pn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10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08.pn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png" Type="http://schemas.openxmlformats.org/officeDocument/2006/relationships/image"/><Relationship Id="rId7" Target="../media/image1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1820174">
            <a:off x="16279200" y="2450326"/>
            <a:ext cx="1042835" cy="104283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775705">
            <a:off x="16489604" y="2708804"/>
            <a:ext cx="620310" cy="530870"/>
          </a:xfrm>
          <a:custGeom>
            <a:avLst/>
            <a:gdLst/>
            <a:ahLst/>
            <a:cxnLst/>
            <a:rect r="r" b="b" t="t" l="l"/>
            <a:pathLst>
              <a:path h="530870" w="620310">
                <a:moveTo>
                  <a:pt x="0" y="0"/>
                </a:moveTo>
                <a:lnTo>
                  <a:pt x="620310" y="0"/>
                </a:lnTo>
                <a:lnTo>
                  <a:pt x="620310" y="530870"/>
                </a:lnTo>
                <a:lnTo>
                  <a:pt x="0" y="53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762824">
            <a:off x="16450112" y="7961626"/>
            <a:ext cx="969121" cy="96912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762824">
            <a:off x="16666950" y="8265804"/>
            <a:ext cx="506387" cy="381195"/>
          </a:xfrm>
          <a:custGeom>
            <a:avLst/>
            <a:gdLst/>
            <a:ahLst/>
            <a:cxnLst/>
            <a:rect r="r" b="b" t="t" l="l"/>
            <a:pathLst>
              <a:path h="381195" w="506387">
                <a:moveTo>
                  <a:pt x="0" y="0"/>
                </a:moveTo>
                <a:lnTo>
                  <a:pt x="506387" y="0"/>
                </a:lnTo>
                <a:lnTo>
                  <a:pt x="506387" y="381195"/>
                </a:lnTo>
                <a:lnTo>
                  <a:pt x="0" y="38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590604" y="6828406"/>
            <a:ext cx="5029347" cy="2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9"/>
              </a:lnSpc>
            </a:pPr>
            <a:r>
              <a:rPr lang="en-US" b="true" sz="2282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อาจารย์ที่ปรึกษา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1632" y="1815137"/>
            <a:ext cx="10428319" cy="410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0"/>
              </a:lnSpc>
            </a:pPr>
            <a:r>
              <a:rPr lang="en-US" b="true" sz="4500" spc="-108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กา</a:t>
            </a:r>
            <a:r>
              <a:rPr lang="en-US" b="true" sz="4500" spc="-108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รเทียบเคียงสมรรถนะ ระหว่าง AI-Testing </a:t>
            </a:r>
            <a:r>
              <a:rPr lang="en-US" b="true" sz="4500" spc="-108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เทียบกับ ขั้นตอนวิธี Symbolic Execution และ NSGA-II</a:t>
            </a:r>
          </a:p>
          <a:p>
            <a:pPr algn="l" marL="0" indent="0" lvl="0">
              <a:lnSpc>
                <a:spcPts val="6570"/>
              </a:lnSpc>
            </a:pPr>
            <a:r>
              <a:rPr lang="en-US" b="true" sz="4500" spc="-108">
                <a:solidFill>
                  <a:srgbClr val="9F8CDE"/>
                </a:solidFill>
                <a:latin typeface="Aileron Bold"/>
                <a:ea typeface="Aileron Bold"/>
                <a:cs typeface="Aileron Bold"/>
                <a:sym typeface="Aileron Bold"/>
              </a:rPr>
              <a:t>   Benchmarking AI-Testing </a:t>
            </a:r>
            <a:r>
              <a:rPr lang="en-US" b="true" sz="4500" spc="-108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vs</a:t>
            </a:r>
            <a:r>
              <a:rPr lang="en-US" b="true" sz="4500" spc="-108">
                <a:solidFill>
                  <a:srgbClr val="9F8CDE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  <a:p>
            <a:pPr algn="l" marL="0" indent="0" lvl="0">
              <a:lnSpc>
                <a:spcPts val="6570"/>
              </a:lnSpc>
            </a:pPr>
            <a:r>
              <a:rPr lang="en-US" b="true" sz="4500" spc="-108">
                <a:solidFill>
                  <a:srgbClr val="9F8CDE"/>
                </a:solidFill>
                <a:latin typeface="Aileron Bold"/>
                <a:ea typeface="Aileron Bold"/>
                <a:cs typeface="Aileron Bold"/>
                <a:sym typeface="Aileron Bold"/>
              </a:rPr>
              <a:t>   Symbolic Execution and NSGA-II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90604" y="7385955"/>
            <a:ext cx="4103104" cy="29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5"/>
              </a:lnSpc>
            </a:pPr>
            <a:r>
              <a:rPr lang="en-US" sz="2278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ผศ. ดร.ชิตสุธา สุ่มเล็ก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1632" y="6828406"/>
            <a:ext cx="4749471" cy="29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9"/>
              </a:lnSpc>
            </a:pPr>
            <a:r>
              <a:rPr lang="en-US" b="true" sz="2282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สมาชิกกลุ่ม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4133" y="8969420"/>
            <a:ext cx="5629021" cy="28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5"/>
              </a:lnSpc>
            </a:pPr>
            <a:r>
              <a:rPr lang="en-US" b="true" sz="2278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วิทยาลัยการคอมพิวเตอร์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3767670">
            <a:off x="9650198" y="5056126"/>
            <a:ext cx="8080052" cy="4898532"/>
          </a:xfrm>
          <a:custGeom>
            <a:avLst/>
            <a:gdLst/>
            <a:ahLst/>
            <a:cxnLst/>
            <a:rect r="r" b="b" t="t" l="l"/>
            <a:pathLst>
              <a:path h="4898532" w="8080052">
                <a:moveTo>
                  <a:pt x="0" y="0"/>
                </a:moveTo>
                <a:lnTo>
                  <a:pt x="8080052" y="0"/>
                </a:lnTo>
                <a:lnTo>
                  <a:pt x="8080052" y="4898532"/>
                </a:lnTo>
                <a:lnTo>
                  <a:pt x="0" y="4898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6064769">
            <a:off x="10689202" y="3097510"/>
            <a:ext cx="7273658" cy="4600589"/>
          </a:xfrm>
          <a:custGeom>
            <a:avLst/>
            <a:gdLst/>
            <a:ahLst/>
            <a:cxnLst/>
            <a:rect r="r" b="b" t="t" l="l"/>
            <a:pathLst>
              <a:path h="4600589" w="7273658">
                <a:moveTo>
                  <a:pt x="0" y="0"/>
                </a:moveTo>
                <a:lnTo>
                  <a:pt x="7273658" y="0"/>
                </a:lnTo>
                <a:lnTo>
                  <a:pt x="7273658" y="4600589"/>
                </a:lnTo>
                <a:lnTo>
                  <a:pt x="0" y="4600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3767670">
            <a:off x="14573554" y="3120555"/>
            <a:ext cx="3567378" cy="7925067"/>
          </a:xfrm>
          <a:custGeom>
            <a:avLst/>
            <a:gdLst/>
            <a:ahLst/>
            <a:cxnLst/>
            <a:rect r="r" b="b" t="t" l="l"/>
            <a:pathLst>
              <a:path h="7925067" w="3567378">
                <a:moveTo>
                  <a:pt x="0" y="0"/>
                </a:moveTo>
                <a:lnTo>
                  <a:pt x="3567377" y="0"/>
                </a:lnTo>
                <a:lnTo>
                  <a:pt x="3567377" y="7925067"/>
                </a:lnTo>
                <a:lnTo>
                  <a:pt x="0" y="792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01/23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4133" y="7243668"/>
            <a:ext cx="6431801" cy="1382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6"/>
              </a:lnSpc>
            </a:pPr>
            <a:r>
              <a:rPr lang="en-US" sz="2278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นาย</a:t>
            </a:r>
            <a:r>
              <a:rPr lang="en-US" sz="2278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ธนภูมิ แทนทุมมา          673380271-3</a:t>
            </a:r>
          </a:p>
          <a:p>
            <a:pPr algn="l" marL="0" indent="0" lvl="0">
              <a:lnSpc>
                <a:spcPts val="3736"/>
              </a:lnSpc>
            </a:pPr>
            <a:r>
              <a:rPr lang="en-US" sz="2278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นายปองภพ ศรีรักษ์             673380279-7</a:t>
            </a:r>
          </a:p>
          <a:p>
            <a:pPr algn="l" marL="0" indent="0" lvl="0">
              <a:lnSpc>
                <a:spcPts val="3736"/>
              </a:lnSpc>
            </a:pPr>
            <a:r>
              <a:rPr lang="en-US" sz="2278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นางสาวจิรัชญา เป้าจันทึก   673380510-1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8852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0214" y="4850130"/>
            <a:ext cx="4818043" cy="4404481"/>
            <a:chOff x="0" y="0"/>
            <a:chExt cx="2156582" cy="1971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6582" cy="1971409"/>
            </a:xfrm>
            <a:custGeom>
              <a:avLst/>
              <a:gdLst/>
              <a:ahLst/>
              <a:cxnLst/>
              <a:rect r="r" b="b" t="t" l="l"/>
              <a:pathLst>
                <a:path h="1971409" w="2156582">
                  <a:moveTo>
                    <a:pt x="2156582" y="59454"/>
                  </a:moveTo>
                  <a:lnTo>
                    <a:pt x="2156582" y="1911955"/>
                  </a:lnTo>
                  <a:cubicBezTo>
                    <a:pt x="2156582" y="1944790"/>
                    <a:pt x="2129964" y="1971409"/>
                    <a:pt x="2097128" y="1971409"/>
                  </a:cubicBezTo>
                  <a:lnTo>
                    <a:pt x="59454" y="1971409"/>
                  </a:lnTo>
                  <a:cubicBezTo>
                    <a:pt x="43686" y="1971409"/>
                    <a:pt x="28563" y="1965145"/>
                    <a:pt x="17414" y="1953995"/>
                  </a:cubicBezTo>
                  <a:cubicBezTo>
                    <a:pt x="6264" y="1942845"/>
                    <a:pt x="0" y="1927723"/>
                    <a:pt x="0" y="1911955"/>
                  </a:cubicBezTo>
                  <a:lnTo>
                    <a:pt x="0" y="59454"/>
                  </a:lnTo>
                  <a:cubicBezTo>
                    <a:pt x="0" y="43686"/>
                    <a:pt x="6264" y="28563"/>
                    <a:pt x="17414" y="17414"/>
                  </a:cubicBezTo>
                  <a:cubicBezTo>
                    <a:pt x="28563" y="6264"/>
                    <a:pt x="43686" y="0"/>
                    <a:pt x="59454" y="0"/>
                  </a:cubicBezTo>
                  <a:lnTo>
                    <a:pt x="2097128" y="0"/>
                  </a:lnTo>
                  <a:cubicBezTo>
                    <a:pt x="2112896" y="0"/>
                    <a:pt x="2128019" y="6264"/>
                    <a:pt x="2139168" y="17414"/>
                  </a:cubicBezTo>
                  <a:cubicBezTo>
                    <a:pt x="2150318" y="28563"/>
                    <a:pt x="2156582" y="43686"/>
                    <a:pt x="2156582" y="59454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56582" cy="2019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1834767" y="5673605"/>
            <a:ext cx="5424533" cy="3148692"/>
            <a:chOff x="0" y="0"/>
            <a:chExt cx="1358170" cy="7883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8170" cy="788355"/>
            </a:xfrm>
            <a:custGeom>
              <a:avLst/>
              <a:gdLst/>
              <a:ahLst/>
              <a:cxnLst/>
              <a:rect r="r" b="b" t="t" l="l"/>
              <a:pathLst>
                <a:path h="788355" w="1358170">
                  <a:moveTo>
                    <a:pt x="32826" y="0"/>
                  </a:moveTo>
                  <a:lnTo>
                    <a:pt x="1325344" y="0"/>
                  </a:lnTo>
                  <a:cubicBezTo>
                    <a:pt x="1343473" y="0"/>
                    <a:pt x="1358170" y="14697"/>
                    <a:pt x="1358170" y="32826"/>
                  </a:cubicBezTo>
                  <a:lnTo>
                    <a:pt x="1358170" y="755529"/>
                  </a:lnTo>
                  <a:cubicBezTo>
                    <a:pt x="1358170" y="773658"/>
                    <a:pt x="1343473" y="788355"/>
                    <a:pt x="1325344" y="788355"/>
                  </a:cubicBezTo>
                  <a:lnTo>
                    <a:pt x="32826" y="788355"/>
                  </a:lnTo>
                  <a:cubicBezTo>
                    <a:pt x="14697" y="788355"/>
                    <a:pt x="0" y="773658"/>
                    <a:pt x="0" y="755529"/>
                  </a:cubicBezTo>
                  <a:lnTo>
                    <a:pt x="0" y="32826"/>
                  </a:lnTo>
                  <a:cubicBezTo>
                    <a:pt x="0" y="14697"/>
                    <a:pt x="14697" y="0"/>
                    <a:pt x="328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6" r="0" b="-17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1820174">
            <a:off x="6599971" y="2126458"/>
            <a:ext cx="1032658" cy="103265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1820174">
            <a:off x="-43776" y="4115872"/>
            <a:ext cx="1125208" cy="112520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1223450">
            <a:off x="182263" y="4261094"/>
            <a:ext cx="642200" cy="751592"/>
          </a:xfrm>
          <a:custGeom>
            <a:avLst/>
            <a:gdLst/>
            <a:ahLst/>
            <a:cxnLst/>
            <a:rect r="r" b="b" t="t" l="l"/>
            <a:pathLst>
              <a:path h="751592" w="642200">
                <a:moveTo>
                  <a:pt x="0" y="0"/>
                </a:moveTo>
                <a:lnTo>
                  <a:pt x="642200" y="0"/>
                </a:lnTo>
                <a:lnTo>
                  <a:pt x="642200" y="751592"/>
                </a:lnTo>
                <a:lnTo>
                  <a:pt x="0" y="75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47501" y="2226541"/>
            <a:ext cx="660361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b="true" sz="5000" spc="-12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ปัญหา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7501" y="2935299"/>
            <a:ext cx="660361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sz="5000" spc="-12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และวัตถุประสงค์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57716" y="3946356"/>
            <a:ext cx="3263038" cy="760835"/>
            <a:chOff x="0" y="0"/>
            <a:chExt cx="746252" cy="1740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6252" cy="174002"/>
            </a:xfrm>
            <a:custGeom>
              <a:avLst/>
              <a:gdLst/>
              <a:ahLst/>
              <a:cxnLst/>
              <a:rect r="r" b="b" t="t" l="l"/>
              <a:pathLst>
                <a:path h="174002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90960"/>
                  </a:lnTo>
                  <a:cubicBezTo>
                    <a:pt x="746252" y="112984"/>
                    <a:pt x="737503" y="134106"/>
                    <a:pt x="721929" y="149679"/>
                  </a:cubicBezTo>
                  <a:cubicBezTo>
                    <a:pt x="706356" y="165253"/>
                    <a:pt x="685234" y="174002"/>
                    <a:pt x="663210" y="174002"/>
                  </a:cubicBezTo>
                  <a:lnTo>
                    <a:pt x="83041" y="174002"/>
                  </a:lnTo>
                  <a:cubicBezTo>
                    <a:pt x="61017" y="174002"/>
                    <a:pt x="39896" y="165253"/>
                    <a:pt x="24322" y="149679"/>
                  </a:cubicBezTo>
                  <a:cubicBezTo>
                    <a:pt x="8749" y="134106"/>
                    <a:pt x="0" y="112984"/>
                    <a:pt x="0" y="90960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46252" cy="22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975169" y="5288915"/>
            <a:ext cx="3856576" cy="378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กา</a:t>
            </a: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รเขียนชุดทดสอบด้วยตนเองใช้เวลาและอาจตกหล่นกรณีสำคัญ</a:t>
            </a: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ชุดทดสอบที่สร้างอัตโนมัติอาจ compile ไม่ผ่านหรือมี assertion ไม่ถูกต้อง</a:t>
            </a: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Coverage สูงยังไม่รับประกันว่าจะตรวจพบข้อผิดพลาด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758326">
            <a:off x="6766862" y="2330767"/>
            <a:ext cx="653994" cy="624040"/>
          </a:xfrm>
          <a:custGeom>
            <a:avLst/>
            <a:gdLst/>
            <a:ahLst/>
            <a:cxnLst/>
            <a:rect r="r" b="b" t="t" l="l"/>
            <a:pathLst>
              <a:path h="624040" w="653994">
                <a:moveTo>
                  <a:pt x="0" y="0"/>
                </a:moveTo>
                <a:lnTo>
                  <a:pt x="653994" y="0"/>
                </a:lnTo>
                <a:lnTo>
                  <a:pt x="653994" y="624040"/>
                </a:lnTo>
                <a:lnTo>
                  <a:pt x="0" y="624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02/23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98054" y="4167705"/>
            <a:ext cx="1382363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0"/>
              </a:lnSpc>
            </a:pPr>
            <a:r>
              <a:rPr lang="en-US" sz="30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ปัญหา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286724" y="3946356"/>
            <a:ext cx="3263038" cy="760835"/>
            <a:chOff x="0" y="0"/>
            <a:chExt cx="746252" cy="174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6252" cy="174002"/>
            </a:xfrm>
            <a:custGeom>
              <a:avLst/>
              <a:gdLst/>
              <a:ahLst/>
              <a:cxnLst/>
              <a:rect r="r" b="b" t="t" l="l"/>
              <a:pathLst>
                <a:path h="174002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90960"/>
                  </a:lnTo>
                  <a:cubicBezTo>
                    <a:pt x="746252" y="112984"/>
                    <a:pt x="737503" y="134106"/>
                    <a:pt x="721929" y="149679"/>
                  </a:cubicBezTo>
                  <a:cubicBezTo>
                    <a:pt x="706356" y="165253"/>
                    <a:pt x="685234" y="174002"/>
                    <a:pt x="663210" y="174002"/>
                  </a:cubicBezTo>
                  <a:lnTo>
                    <a:pt x="83041" y="174002"/>
                  </a:lnTo>
                  <a:cubicBezTo>
                    <a:pt x="61017" y="174002"/>
                    <a:pt x="39896" y="165253"/>
                    <a:pt x="24322" y="149679"/>
                  </a:cubicBezTo>
                  <a:cubicBezTo>
                    <a:pt x="8749" y="134106"/>
                    <a:pt x="0" y="112984"/>
                    <a:pt x="0" y="90960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46252" cy="22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448645" y="4190575"/>
            <a:ext cx="293919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วัตถุประสงค์</a:t>
            </a:r>
          </a:p>
        </p:txBody>
      </p:sp>
      <p:sp>
        <p:nvSpPr>
          <p:cNvPr name="AutoShape 51" id="51"/>
          <p:cNvSpPr/>
          <p:nvPr/>
        </p:nvSpPr>
        <p:spPr>
          <a:xfrm>
            <a:off x="1975169" y="6359759"/>
            <a:ext cx="3803007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975169" y="7971451"/>
            <a:ext cx="3892875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6509222" y="4850130"/>
            <a:ext cx="4818043" cy="4404481"/>
            <a:chOff x="0" y="0"/>
            <a:chExt cx="2156582" cy="19714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56582" cy="1971409"/>
            </a:xfrm>
            <a:custGeom>
              <a:avLst/>
              <a:gdLst/>
              <a:ahLst/>
              <a:cxnLst/>
              <a:rect r="r" b="b" t="t" l="l"/>
              <a:pathLst>
                <a:path h="1971409" w="2156582">
                  <a:moveTo>
                    <a:pt x="2156582" y="59454"/>
                  </a:moveTo>
                  <a:lnTo>
                    <a:pt x="2156582" y="1911955"/>
                  </a:lnTo>
                  <a:cubicBezTo>
                    <a:pt x="2156582" y="1944790"/>
                    <a:pt x="2129964" y="1971409"/>
                    <a:pt x="2097128" y="1971409"/>
                  </a:cubicBezTo>
                  <a:lnTo>
                    <a:pt x="59454" y="1971409"/>
                  </a:lnTo>
                  <a:cubicBezTo>
                    <a:pt x="43686" y="1971409"/>
                    <a:pt x="28563" y="1965145"/>
                    <a:pt x="17414" y="1953995"/>
                  </a:cubicBezTo>
                  <a:cubicBezTo>
                    <a:pt x="6264" y="1942845"/>
                    <a:pt x="0" y="1927723"/>
                    <a:pt x="0" y="1911955"/>
                  </a:cubicBezTo>
                  <a:lnTo>
                    <a:pt x="0" y="59454"/>
                  </a:lnTo>
                  <a:cubicBezTo>
                    <a:pt x="0" y="43686"/>
                    <a:pt x="6264" y="28563"/>
                    <a:pt x="17414" y="17414"/>
                  </a:cubicBezTo>
                  <a:cubicBezTo>
                    <a:pt x="28563" y="6264"/>
                    <a:pt x="43686" y="0"/>
                    <a:pt x="59454" y="0"/>
                  </a:cubicBezTo>
                  <a:lnTo>
                    <a:pt x="2097128" y="0"/>
                  </a:lnTo>
                  <a:cubicBezTo>
                    <a:pt x="2112896" y="0"/>
                    <a:pt x="2128019" y="6264"/>
                    <a:pt x="2139168" y="17414"/>
                  </a:cubicBezTo>
                  <a:cubicBezTo>
                    <a:pt x="2150318" y="28563"/>
                    <a:pt x="2156582" y="43686"/>
                    <a:pt x="2156582" y="59454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156582" cy="2019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7004177" y="5288915"/>
            <a:ext cx="3856576" cy="378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ทดลองส</a:t>
            </a: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ร้างชุดทดสอบด้วยอัลกอริทึม 2 วิธีและ AI 2 วิธี</a:t>
            </a: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ทดลองสร้างชุดทดสอบด้วยอัลกอริทึม 2 วิธีและ AI 2 วิธี</a:t>
            </a: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</a:p>
          <a:p>
            <a:pPr algn="l" marL="0" indent="0" lvl="0">
              <a:lnSpc>
                <a:spcPts val="249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เปรียบเทียบผลและทรัพยากร พร้อมวิเคราะห์ข้อจำกัดของแต่ละวิธี</a:t>
            </a:r>
          </a:p>
        </p:txBody>
      </p:sp>
      <p:sp>
        <p:nvSpPr>
          <p:cNvPr name="AutoShape 57" id="57"/>
          <p:cNvSpPr/>
          <p:nvPr/>
        </p:nvSpPr>
        <p:spPr>
          <a:xfrm>
            <a:off x="7004177" y="6359759"/>
            <a:ext cx="3856576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7004177" y="7765860"/>
            <a:ext cx="3856576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2808104" y="2075306"/>
            <a:ext cx="3263038" cy="760835"/>
            <a:chOff x="0" y="0"/>
            <a:chExt cx="746252" cy="17400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252" cy="174002"/>
            </a:xfrm>
            <a:custGeom>
              <a:avLst/>
              <a:gdLst/>
              <a:ahLst/>
              <a:cxnLst/>
              <a:rect r="r" b="b" t="t" l="l"/>
              <a:pathLst>
                <a:path h="174002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90960"/>
                  </a:lnTo>
                  <a:cubicBezTo>
                    <a:pt x="746252" y="112984"/>
                    <a:pt x="737503" y="134106"/>
                    <a:pt x="721929" y="149679"/>
                  </a:cubicBezTo>
                  <a:cubicBezTo>
                    <a:pt x="706356" y="165253"/>
                    <a:pt x="685234" y="174002"/>
                    <a:pt x="663210" y="174002"/>
                  </a:cubicBezTo>
                  <a:lnTo>
                    <a:pt x="83041" y="174002"/>
                  </a:lnTo>
                  <a:cubicBezTo>
                    <a:pt x="61017" y="174002"/>
                    <a:pt x="39896" y="165253"/>
                    <a:pt x="24322" y="149679"/>
                  </a:cubicBezTo>
                  <a:cubicBezTo>
                    <a:pt x="8749" y="134106"/>
                    <a:pt x="0" y="112984"/>
                    <a:pt x="0" y="90960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46252" cy="22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970025" y="2319526"/>
            <a:ext cx="293919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คำถามหลัก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26860" y="3039049"/>
            <a:ext cx="4818043" cy="2202241"/>
            <a:chOff x="0" y="0"/>
            <a:chExt cx="2156582" cy="9857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56582" cy="985704"/>
            </a:xfrm>
            <a:custGeom>
              <a:avLst/>
              <a:gdLst/>
              <a:ahLst/>
              <a:cxnLst/>
              <a:rect r="r" b="b" t="t" l="l"/>
              <a:pathLst>
                <a:path h="985704" w="2156582">
                  <a:moveTo>
                    <a:pt x="2156582" y="59454"/>
                  </a:moveTo>
                  <a:lnTo>
                    <a:pt x="2156582" y="926251"/>
                  </a:lnTo>
                  <a:cubicBezTo>
                    <a:pt x="2156582" y="942019"/>
                    <a:pt x="2150318" y="957141"/>
                    <a:pt x="2139168" y="968291"/>
                  </a:cubicBezTo>
                  <a:cubicBezTo>
                    <a:pt x="2128019" y="979441"/>
                    <a:pt x="2112896" y="985704"/>
                    <a:pt x="2097128" y="985704"/>
                  </a:cubicBezTo>
                  <a:lnTo>
                    <a:pt x="59454" y="985704"/>
                  </a:lnTo>
                  <a:cubicBezTo>
                    <a:pt x="43686" y="985704"/>
                    <a:pt x="28563" y="979441"/>
                    <a:pt x="17414" y="968291"/>
                  </a:cubicBezTo>
                  <a:cubicBezTo>
                    <a:pt x="6264" y="957141"/>
                    <a:pt x="0" y="942019"/>
                    <a:pt x="0" y="926251"/>
                  </a:cubicBezTo>
                  <a:lnTo>
                    <a:pt x="0" y="59454"/>
                  </a:lnTo>
                  <a:cubicBezTo>
                    <a:pt x="0" y="43686"/>
                    <a:pt x="6264" y="28563"/>
                    <a:pt x="17414" y="17414"/>
                  </a:cubicBezTo>
                  <a:cubicBezTo>
                    <a:pt x="28563" y="6264"/>
                    <a:pt x="43686" y="0"/>
                    <a:pt x="59454" y="0"/>
                  </a:cubicBezTo>
                  <a:lnTo>
                    <a:pt x="2097128" y="0"/>
                  </a:lnTo>
                  <a:cubicBezTo>
                    <a:pt x="2112896" y="0"/>
                    <a:pt x="2128019" y="6264"/>
                    <a:pt x="2139168" y="17414"/>
                  </a:cubicBezTo>
                  <a:cubicBezTo>
                    <a:pt x="2150318" y="28563"/>
                    <a:pt x="2156582" y="43686"/>
                    <a:pt x="2156582" y="59454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156582" cy="1033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2404991" y="3375839"/>
            <a:ext cx="4373694" cy="148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4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แต่ละวิธีสร้างชุดทดสอบที่ใช้งานได้และแยกพฤติกรรมระหว่าง buggy กับ fixed ได้มากน้อยเพียงใด</a:t>
            </a:r>
          </a:p>
        </p:txBody>
      </p:sp>
      <p:sp>
        <p:nvSpPr>
          <p:cNvPr name="TextBox 67" id="67"/>
          <p:cNvSpPr txBox="true"/>
          <p:nvPr/>
        </p:nvSpPr>
        <p:spPr>
          <a:xfrm rot="1189499">
            <a:off x="16469961" y="2517063"/>
            <a:ext cx="358798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15935160" y="2676438"/>
            <a:ext cx="955121" cy="9551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775705">
            <a:off x="15872533" y="2857272"/>
            <a:ext cx="1034742" cy="625379"/>
          </a:xfrm>
          <a:custGeom>
            <a:avLst/>
            <a:gdLst/>
            <a:ahLst/>
            <a:cxnLst/>
            <a:rect r="r" b="b" t="t" l="l"/>
            <a:pathLst>
              <a:path h="625379" w="1034742">
                <a:moveTo>
                  <a:pt x="0" y="0"/>
                </a:moveTo>
                <a:lnTo>
                  <a:pt x="1034742" y="0"/>
                </a:lnTo>
                <a:lnTo>
                  <a:pt x="1034742" y="625379"/>
                </a:lnTo>
                <a:lnTo>
                  <a:pt x="0" y="625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99967" y="7103951"/>
            <a:ext cx="6236513" cy="1840104"/>
            <a:chOff x="0" y="0"/>
            <a:chExt cx="4132296" cy="1219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32296" cy="1219248"/>
            </a:xfrm>
            <a:custGeom>
              <a:avLst/>
              <a:gdLst/>
              <a:ahLst/>
              <a:cxnLst/>
              <a:rect r="r" b="b" t="t" l="l"/>
              <a:pathLst>
                <a:path h="1219248" w="4132296">
                  <a:moveTo>
                    <a:pt x="27310" y="0"/>
                  </a:moveTo>
                  <a:lnTo>
                    <a:pt x="4104985" y="0"/>
                  </a:lnTo>
                  <a:cubicBezTo>
                    <a:pt x="4120069" y="0"/>
                    <a:pt x="4132296" y="12227"/>
                    <a:pt x="4132296" y="27310"/>
                  </a:cubicBezTo>
                  <a:lnTo>
                    <a:pt x="4132296" y="1191937"/>
                  </a:lnTo>
                  <a:cubicBezTo>
                    <a:pt x="4132296" y="1207021"/>
                    <a:pt x="4120069" y="1219248"/>
                    <a:pt x="4104985" y="1219248"/>
                  </a:cubicBezTo>
                  <a:lnTo>
                    <a:pt x="27310" y="1219248"/>
                  </a:lnTo>
                  <a:cubicBezTo>
                    <a:pt x="12227" y="1219248"/>
                    <a:pt x="0" y="1207021"/>
                    <a:pt x="0" y="1191937"/>
                  </a:cubicBezTo>
                  <a:lnTo>
                    <a:pt x="0" y="27310"/>
                  </a:lnTo>
                  <a:cubicBezTo>
                    <a:pt x="0" y="12227"/>
                    <a:pt x="12227" y="0"/>
                    <a:pt x="2731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132296" cy="125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44526" y="7280033"/>
            <a:ext cx="565949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หน่วยทดล</a:t>
            </a:r>
            <a:r>
              <a:rPr lang="en-US" sz="20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อง: หนึ่ง Project–Bug ID</a:t>
            </a:r>
          </a:p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ตัวอย่าง: Lang-1, Cli-1 และ Jsoup-71</a:t>
            </a:r>
          </a:p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ชุดทดสอบเดียวกันต้องผ่านการประเมินบนทั้งสองเวอร์ชัน เพื่อดูความแตกต่างของพฤติกรรม</a:t>
            </a:r>
          </a:p>
          <a:p>
            <a:pPr algn="l" marL="0" indent="0" lvl="0">
              <a:lnSpc>
                <a:spcPts val="280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1044468">
            <a:off x="11662853" y="7411140"/>
            <a:ext cx="864151" cy="86415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9486">
            <a:off x="11915080" y="7641011"/>
            <a:ext cx="359696" cy="404408"/>
          </a:xfrm>
          <a:custGeom>
            <a:avLst/>
            <a:gdLst/>
            <a:ahLst/>
            <a:cxnLst/>
            <a:rect r="r" b="b" t="t" l="l"/>
            <a:pathLst>
              <a:path h="404408" w="359696">
                <a:moveTo>
                  <a:pt x="0" y="0"/>
                </a:moveTo>
                <a:lnTo>
                  <a:pt x="359696" y="0"/>
                </a:lnTo>
                <a:lnTo>
                  <a:pt x="359696" y="404409"/>
                </a:lnTo>
                <a:lnTo>
                  <a:pt x="0" y="40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358" t="-64171" r="-26611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029395" y="3243424"/>
            <a:ext cx="3729952" cy="3246325"/>
            <a:chOff x="0" y="0"/>
            <a:chExt cx="933888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3888" cy="812800"/>
            </a:xfrm>
            <a:custGeom>
              <a:avLst/>
              <a:gdLst/>
              <a:ahLst/>
              <a:cxnLst/>
              <a:rect r="r" b="b" t="t" l="l"/>
              <a:pathLst>
                <a:path h="812800" w="933888">
                  <a:moveTo>
                    <a:pt x="47739" y="0"/>
                  </a:moveTo>
                  <a:lnTo>
                    <a:pt x="886149" y="0"/>
                  </a:lnTo>
                  <a:cubicBezTo>
                    <a:pt x="912515" y="0"/>
                    <a:pt x="933888" y="21373"/>
                    <a:pt x="933888" y="47739"/>
                  </a:cubicBezTo>
                  <a:lnTo>
                    <a:pt x="933888" y="765061"/>
                  </a:lnTo>
                  <a:cubicBezTo>
                    <a:pt x="933888" y="791427"/>
                    <a:pt x="912515" y="812800"/>
                    <a:pt x="886149" y="812800"/>
                  </a:cubicBezTo>
                  <a:lnTo>
                    <a:pt x="47739" y="812800"/>
                  </a:lnTo>
                  <a:cubicBezTo>
                    <a:pt x="21373" y="812800"/>
                    <a:pt x="0" y="791427"/>
                    <a:pt x="0" y="765061"/>
                  </a:cubicBezTo>
                  <a:lnTo>
                    <a:pt x="0" y="47739"/>
                  </a:lnTo>
                  <a:cubicBezTo>
                    <a:pt x="0" y="21373"/>
                    <a:pt x="21373" y="0"/>
                    <a:pt x="47739" y="0"/>
                  </a:cubicBezTo>
                  <a:close/>
                </a:path>
              </a:pathLst>
            </a:custGeom>
            <a:blipFill>
              <a:blip r:embed="rId6"/>
              <a:stretch>
                <a:fillRect l="-91" t="0" r="-91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7501" y="4512417"/>
            <a:ext cx="3263038" cy="939598"/>
            <a:chOff x="0" y="0"/>
            <a:chExt cx="746252" cy="2148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6252" cy="214885"/>
            </a:xfrm>
            <a:custGeom>
              <a:avLst/>
              <a:gdLst/>
              <a:ahLst/>
              <a:cxnLst/>
              <a:rect r="r" b="b" t="t" l="l"/>
              <a:pathLst>
                <a:path h="214885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131843"/>
                  </a:lnTo>
                  <a:cubicBezTo>
                    <a:pt x="746252" y="153867"/>
                    <a:pt x="737503" y="174989"/>
                    <a:pt x="721929" y="190562"/>
                  </a:cubicBezTo>
                  <a:cubicBezTo>
                    <a:pt x="706356" y="206136"/>
                    <a:pt x="685234" y="214885"/>
                    <a:pt x="663210" y="214885"/>
                  </a:cubicBezTo>
                  <a:lnTo>
                    <a:pt x="83041" y="214885"/>
                  </a:lnTo>
                  <a:cubicBezTo>
                    <a:pt x="61017" y="214885"/>
                    <a:pt x="39896" y="206136"/>
                    <a:pt x="24322" y="190562"/>
                  </a:cubicBezTo>
                  <a:cubicBezTo>
                    <a:pt x="8749" y="174989"/>
                    <a:pt x="0" y="153867"/>
                    <a:pt x="0" y="131843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4625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05900" y="4081624"/>
            <a:ext cx="1028471" cy="102847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-762824">
            <a:off x="4131143" y="4280064"/>
            <a:ext cx="536498" cy="643243"/>
          </a:xfrm>
          <a:custGeom>
            <a:avLst/>
            <a:gdLst/>
            <a:ahLst/>
            <a:cxnLst/>
            <a:rect r="r" b="b" t="t" l="l"/>
            <a:pathLst>
              <a:path h="643243" w="536498">
                <a:moveTo>
                  <a:pt x="0" y="0"/>
                </a:moveTo>
                <a:lnTo>
                  <a:pt x="536498" y="0"/>
                </a:lnTo>
                <a:lnTo>
                  <a:pt x="536498" y="643243"/>
                </a:lnTo>
                <a:lnTo>
                  <a:pt x="0" y="64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7524256" y="2618369"/>
            <a:ext cx="3263038" cy="939598"/>
            <a:chOff x="0" y="0"/>
            <a:chExt cx="746252" cy="2148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6252" cy="214885"/>
            </a:xfrm>
            <a:custGeom>
              <a:avLst/>
              <a:gdLst/>
              <a:ahLst/>
              <a:cxnLst/>
              <a:rect r="r" b="b" t="t" l="l"/>
              <a:pathLst>
                <a:path h="214885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131843"/>
                  </a:lnTo>
                  <a:cubicBezTo>
                    <a:pt x="746252" y="153867"/>
                    <a:pt x="737503" y="174989"/>
                    <a:pt x="721929" y="190562"/>
                  </a:cubicBezTo>
                  <a:cubicBezTo>
                    <a:pt x="706356" y="206136"/>
                    <a:pt x="685234" y="214885"/>
                    <a:pt x="663210" y="214885"/>
                  </a:cubicBezTo>
                  <a:lnTo>
                    <a:pt x="83041" y="214885"/>
                  </a:lnTo>
                  <a:cubicBezTo>
                    <a:pt x="61017" y="214885"/>
                    <a:pt x="39896" y="206136"/>
                    <a:pt x="24322" y="190562"/>
                  </a:cubicBezTo>
                  <a:cubicBezTo>
                    <a:pt x="8749" y="174989"/>
                    <a:pt x="0" y="153867"/>
                    <a:pt x="0" y="131843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85D0B6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4625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aphicFrame>
        <p:nvGraphicFramePr>
          <p:cNvPr name="Object 47" id="47"/>
          <p:cNvGraphicFramePr/>
          <p:nvPr/>
        </p:nvGraphicFramePr>
        <p:xfrm>
          <a:off x="7269825" y="4054021"/>
          <a:ext cx="3771900" cy="1885950"/>
        </p:xfrm>
        <a:graphic>
          <a:graphicData uri="http://schemas.openxmlformats.org/presentationml/2006/ole">
            <p:oleObj imgW="4521200" imgH="26289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8" id="48"/>
          <p:cNvSpPr txBox="true"/>
          <p:nvPr/>
        </p:nvSpPr>
        <p:spPr>
          <a:xfrm rot="0">
            <a:off x="1347501" y="2240180"/>
            <a:ext cx="260958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b="true" sz="5000" spc="-12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ชุดข้อมูล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47501" y="3014824"/>
            <a:ext cx="296208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sz="5000" spc="-12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Defects4J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03/23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73143" y="4603020"/>
            <a:ext cx="3011756" cy="84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sz="3500" b="true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17</a:t>
            </a:r>
          </a:p>
          <a:p>
            <a:pPr algn="ctr" marL="0" indent="0" lvl="0">
              <a:lnSpc>
                <a:spcPts val="3290"/>
              </a:lnSpc>
            </a:pPr>
            <a:r>
              <a:rPr lang="en-US" b="true" sz="35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649897" y="2708972"/>
            <a:ext cx="3011756" cy="84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0"/>
              </a:lnSpc>
            </a:pPr>
            <a:r>
              <a:rPr lang="en-US" b="true" sz="35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854 Act</a:t>
            </a:r>
            <a:r>
              <a:rPr lang="en-US" b="true" sz="35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ive Bugs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63596" y="6013990"/>
            <a:ext cx="4484608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ชุดข้อมูลข้อผิดพลาดจริงจากโครงการภาษา Java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แต่ละกรณีระบุด้วย Project และ Bug ID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มีโค้ดสองเวอร์ชันสำหรับประเมินผล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0927" y="-330319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6074629" y="3392945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0174">
            <a:off x="1465800" y="5277863"/>
            <a:ext cx="642665" cy="6426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775705">
            <a:off x="6304380" y="3681661"/>
            <a:ext cx="578908" cy="479616"/>
          </a:xfrm>
          <a:custGeom>
            <a:avLst/>
            <a:gdLst/>
            <a:ahLst/>
            <a:cxnLst/>
            <a:rect r="r" b="b" t="t" l="l"/>
            <a:pathLst>
              <a:path h="479616" w="578908">
                <a:moveTo>
                  <a:pt x="0" y="0"/>
                </a:moveTo>
                <a:lnTo>
                  <a:pt x="578908" y="0"/>
                </a:lnTo>
                <a:lnTo>
                  <a:pt x="578908" y="479616"/>
                </a:lnTo>
                <a:lnTo>
                  <a:pt x="0" y="47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844841" y="2145489"/>
            <a:ext cx="8743277" cy="8613489"/>
            <a:chOff x="0" y="0"/>
            <a:chExt cx="2862786" cy="28202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62786" cy="2820289"/>
            </a:xfrm>
            <a:custGeom>
              <a:avLst/>
              <a:gdLst/>
              <a:ahLst/>
              <a:cxnLst/>
              <a:rect r="r" b="b" t="t" l="l"/>
              <a:pathLst>
                <a:path h="2820289" w="2862786">
                  <a:moveTo>
                    <a:pt x="21251" y="0"/>
                  </a:moveTo>
                  <a:lnTo>
                    <a:pt x="2841534" y="0"/>
                  </a:lnTo>
                  <a:cubicBezTo>
                    <a:pt x="2853271" y="0"/>
                    <a:pt x="2862786" y="9515"/>
                    <a:pt x="2862786" y="21251"/>
                  </a:cubicBezTo>
                  <a:lnTo>
                    <a:pt x="2862786" y="2799038"/>
                  </a:lnTo>
                  <a:cubicBezTo>
                    <a:pt x="2862786" y="2810775"/>
                    <a:pt x="2853271" y="2820289"/>
                    <a:pt x="2841534" y="2820289"/>
                  </a:cubicBezTo>
                  <a:lnTo>
                    <a:pt x="21251" y="2820289"/>
                  </a:lnTo>
                  <a:cubicBezTo>
                    <a:pt x="15615" y="2820289"/>
                    <a:pt x="10210" y="2818050"/>
                    <a:pt x="6224" y="2814065"/>
                  </a:cubicBezTo>
                  <a:cubicBezTo>
                    <a:pt x="2239" y="2810080"/>
                    <a:pt x="0" y="2804674"/>
                    <a:pt x="0" y="2799038"/>
                  </a:cubicBezTo>
                  <a:lnTo>
                    <a:pt x="0" y="21251"/>
                  </a:lnTo>
                  <a:cubicBezTo>
                    <a:pt x="0" y="9515"/>
                    <a:pt x="9515" y="0"/>
                    <a:pt x="21251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862786" cy="2858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62824">
            <a:off x="16103557" y="7421894"/>
            <a:ext cx="969121" cy="96912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762824">
            <a:off x="16335158" y="7626326"/>
            <a:ext cx="464687" cy="569590"/>
          </a:xfrm>
          <a:custGeom>
            <a:avLst/>
            <a:gdLst/>
            <a:ahLst/>
            <a:cxnLst/>
            <a:rect r="r" b="b" t="t" l="l"/>
            <a:pathLst>
              <a:path h="569590" w="464687">
                <a:moveTo>
                  <a:pt x="0" y="0"/>
                </a:moveTo>
                <a:lnTo>
                  <a:pt x="464687" y="0"/>
                </a:lnTo>
                <a:lnTo>
                  <a:pt x="464687" y="569591"/>
                </a:lnTo>
                <a:lnTo>
                  <a:pt x="0" y="569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1044468">
            <a:off x="7583523" y="1979490"/>
            <a:ext cx="969104" cy="96910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9486">
            <a:off x="7877985" y="2173550"/>
            <a:ext cx="379722" cy="579728"/>
          </a:xfrm>
          <a:custGeom>
            <a:avLst/>
            <a:gdLst/>
            <a:ahLst/>
            <a:cxnLst/>
            <a:rect r="r" b="b" t="t" l="l"/>
            <a:pathLst>
              <a:path h="579728" w="379722">
                <a:moveTo>
                  <a:pt x="0" y="0"/>
                </a:moveTo>
                <a:lnTo>
                  <a:pt x="379722" y="0"/>
                </a:lnTo>
                <a:lnTo>
                  <a:pt x="379722" y="579728"/>
                </a:lnTo>
                <a:lnTo>
                  <a:pt x="0" y="579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1820174">
            <a:off x="1465800" y="6066393"/>
            <a:ext cx="642665" cy="6426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1820174">
            <a:off x="1465800" y="6826386"/>
            <a:ext cx="642665" cy="6426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1820174">
            <a:off x="1465800" y="7586379"/>
            <a:ext cx="642665" cy="6426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1820174">
            <a:off x="1465800" y="8346373"/>
            <a:ext cx="642665" cy="6426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aphicFrame>
        <p:nvGraphicFramePr>
          <p:cNvPr name="Object 53" id="53"/>
          <p:cNvGraphicFramePr/>
          <p:nvPr/>
        </p:nvGraphicFramePr>
        <p:xfrm>
          <a:off x="8675398" y="2681544"/>
          <a:ext cx="3771900" cy="3771900"/>
        </p:xfrm>
        <a:graphic>
          <a:graphicData uri="http://schemas.openxmlformats.org/presentationml/2006/ole">
            <p:oleObj imgW="45212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4" id="54"/>
          <p:cNvSpPr txBox="true"/>
          <p:nvPr/>
        </p:nvSpPr>
        <p:spPr>
          <a:xfrm rot="0">
            <a:off x="1347501" y="2226541"/>
            <a:ext cx="602351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b="true" sz="5000" spc="-12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ภาพรวม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47501" y="2813727"/>
            <a:ext cx="460488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sz="5000" spc="-12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การทดลอง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04/23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60650" y="5465532"/>
            <a:ext cx="27191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b="true" sz="24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26763" y="5465532"/>
            <a:ext cx="572663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เตรียมกรณีทดลองจาก D</a:t>
            </a: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efects4J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60650" y="6254063"/>
            <a:ext cx="27191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b="true" sz="24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226763" y="6254063"/>
            <a:ext cx="572663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สร้างชุดทดสอบด้วยแต่ละวิธี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60650" y="7014056"/>
            <a:ext cx="27191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b="true" sz="24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226763" y="7014056"/>
            <a:ext cx="572663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ตรวจสอบการ </a:t>
            </a: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compile และการรัน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60650" y="7774049"/>
            <a:ext cx="27191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b="true" sz="24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26763" y="7774049"/>
            <a:ext cx="572663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ประเมินบน buggy และ </a:t>
            </a: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fixed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60650" y="8534042"/>
            <a:ext cx="198477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b="true" sz="2499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26763" y="8534042"/>
            <a:ext cx="572663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9"/>
              </a:lnSpc>
            </a:pPr>
            <a:r>
              <a:rPr lang="en-US" sz="249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รวมผลและตรวจสอบหลักฐาน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599117" y="9099465"/>
            <a:ext cx="7277363" cy="56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0"/>
              </a:lnSpc>
            </a:pPr>
            <a:r>
              <a:rPr lang="en-US" b="true" sz="2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การเปรียบเทียบต้องพิจารณากรณีทดลอง เกณฑ์ผลลัพธ์ และขอบเขตการวัดของแต่ละวิธีร่วมกัน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2413612" y="3946056"/>
            <a:ext cx="3263038" cy="939598"/>
            <a:chOff x="0" y="0"/>
            <a:chExt cx="746252" cy="21488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46252" cy="214885"/>
            </a:xfrm>
            <a:custGeom>
              <a:avLst/>
              <a:gdLst/>
              <a:ahLst/>
              <a:cxnLst/>
              <a:rect r="r" b="b" t="t" l="l"/>
              <a:pathLst>
                <a:path h="214885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131843"/>
                  </a:lnTo>
                  <a:cubicBezTo>
                    <a:pt x="746252" y="153867"/>
                    <a:pt x="737503" y="174989"/>
                    <a:pt x="721929" y="190562"/>
                  </a:cubicBezTo>
                  <a:cubicBezTo>
                    <a:pt x="706356" y="206136"/>
                    <a:pt x="685234" y="214885"/>
                    <a:pt x="663210" y="214885"/>
                  </a:cubicBezTo>
                  <a:lnTo>
                    <a:pt x="83041" y="214885"/>
                  </a:lnTo>
                  <a:cubicBezTo>
                    <a:pt x="61017" y="214885"/>
                    <a:pt x="39896" y="206136"/>
                    <a:pt x="24322" y="190562"/>
                  </a:cubicBezTo>
                  <a:cubicBezTo>
                    <a:pt x="8749" y="174989"/>
                    <a:pt x="0" y="153867"/>
                    <a:pt x="0" y="131843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4625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-1223450">
            <a:off x="5498428" y="4243136"/>
            <a:ext cx="665429" cy="660438"/>
          </a:xfrm>
          <a:custGeom>
            <a:avLst/>
            <a:gdLst/>
            <a:ahLst/>
            <a:cxnLst/>
            <a:rect r="r" b="b" t="t" l="l"/>
            <a:pathLst>
              <a:path h="660438" w="665429">
                <a:moveTo>
                  <a:pt x="0" y="0"/>
                </a:moveTo>
                <a:lnTo>
                  <a:pt x="665429" y="0"/>
                </a:lnTo>
                <a:lnTo>
                  <a:pt x="665429" y="660439"/>
                </a:lnTo>
                <a:lnTo>
                  <a:pt x="0" y="660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2539253" y="4036659"/>
            <a:ext cx="3011756" cy="84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0"/>
              </a:lnSpc>
            </a:pPr>
            <a:r>
              <a:rPr lang="en-US" b="true" sz="35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Experimental Workflow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2923" y="642180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8852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16038321" y="1638546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0174">
            <a:off x="430745" y="2954525"/>
            <a:ext cx="1168293" cy="11682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223450">
            <a:off x="693396" y="3222846"/>
            <a:ext cx="640919" cy="632107"/>
          </a:xfrm>
          <a:custGeom>
            <a:avLst/>
            <a:gdLst/>
            <a:ahLst/>
            <a:cxnLst/>
            <a:rect r="r" b="b" t="t" l="l"/>
            <a:pathLst>
              <a:path h="632107" w="640919">
                <a:moveTo>
                  <a:pt x="0" y="0"/>
                </a:moveTo>
                <a:lnTo>
                  <a:pt x="640919" y="0"/>
                </a:lnTo>
                <a:lnTo>
                  <a:pt x="640919" y="632107"/>
                </a:lnTo>
                <a:lnTo>
                  <a:pt x="0" y="632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75705">
            <a:off x="16253980" y="1876320"/>
            <a:ext cx="611056" cy="568858"/>
          </a:xfrm>
          <a:custGeom>
            <a:avLst/>
            <a:gdLst/>
            <a:ahLst/>
            <a:cxnLst/>
            <a:rect r="r" b="b" t="t" l="l"/>
            <a:pathLst>
              <a:path h="568858" w="611056">
                <a:moveTo>
                  <a:pt x="0" y="0"/>
                </a:moveTo>
                <a:lnTo>
                  <a:pt x="611055" y="0"/>
                </a:lnTo>
                <a:lnTo>
                  <a:pt x="611055" y="568858"/>
                </a:lnTo>
                <a:lnTo>
                  <a:pt x="0" y="568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47501" y="2197966"/>
            <a:ext cx="5792435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NSGA-II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24023" y="2197966"/>
            <a:ext cx="2076664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วิธีทดลอง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55007" y="6587607"/>
            <a:ext cx="2609411" cy="2959251"/>
            <a:chOff x="0" y="0"/>
            <a:chExt cx="1002975" cy="11374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2975" cy="1137442"/>
            </a:xfrm>
            <a:custGeom>
              <a:avLst/>
              <a:gdLst/>
              <a:ahLst/>
              <a:cxnLst/>
              <a:rect r="r" b="b" t="t" l="l"/>
              <a:pathLst>
                <a:path h="1137442" w="1002975">
                  <a:moveTo>
                    <a:pt x="68239" y="0"/>
                  </a:moveTo>
                  <a:lnTo>
                    <a:pt x="934735" y="0"/>
                  </a:lnTo>
                  <a:cubicBezTo>
                    <a:pt x="972423" y="0"/>
                    <a:pt x="1002975" y="30552"/>
                    <a:pt x="1002975" y="68239"/>
                  </a:cubicBezTo>
                  <a:lnTo>
                    <a:pt x="1002975" y="1069203"/>
                  </a:lnTo>
                  <a:cubicBezTo>
                    <a:pt x="1002975" y="1106890"/>
                    <a:pt x="972423" y="1137442"/>
                    <a:pt x="934735" y="1137442"/>
                  </a:cubicBezTo>
                  <a:lnTo>
                    <a:pt x="68239" y="1137442"/>
                  </a:lnTo>
                  <a:cubicBezTo>
                    <a:pt x="30552" y="1137442"/>
                    <a:pt x="0" y="1106890"/>
                    <a:pt x="0" y="1069203"/>
                  </a:cubicBezTo>
                  <a:lnTo>
                    <a:pt x="0" y="68239"/>
                  </a:lnTo>
                  <a:cubicBezTo>
                    <a:pt x="0" y="30552"/>
                    <a:pt x="30552" y="0"/>
                    <a:pt x="68239" y="0"/>
                  </a:cubicBezTo>
                  <a:close/>
                </a:path>
              </a:pathLst>
            </a:custGeom>
            <a:blipFill>
              <a:blip r:embed="rId5"/>
              <a:stretch>
                <a:fillRect l="-111" t="0" r="-11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545180" y="2873341"/>
            <a:ext cx="4809433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77"/>
              </a:lnSpc>
            </a:pPr>
            <a:r>
              <a:rPr lang="en-US" sz="2064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NSGA-II เป็นอัลกอริทึมเชิงวิวัฒนาการแบบหลายวัตถุประสงค์ ใช้สำหรับสร้าง test case อัตโนมัติ โดยมุ่งเน้นการเพิ่ม code coverage และลดจำนวน test case พร้อมกัน ทำการทดลองบนชุดข้อมูล Defects4J ทั้ง 17 โครงการ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45180" y="5467327"/>
            <a:ext cx="5714120" cy="24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58"/>
              </a:lnSpc>
            </a:pPr>
            <a:r>
              <a:rPr lang="en-US" b="true" sz="1977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ภาพรวมการทดลอง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86320" y="3946803"/>
            <a:ext cx="2652377" cy="716851"/>
            <a:chOff x="0" y="0"/>
            <a:chExt cx="635253" cy="171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253" cy="171688"/>
            </a:xfrm>
            <a:custGeom>
              <a:avLst/>
              <a:gdLst/>
              <a:ahLst/>
              <a:cxnLst/>
              <a:rect r="r" b="b" t="t" l="l"/>
              <a:pathLst>
                <a:path h="171688" w="635253">
                  <a:moveTo>
                    <a:pt x="72972" y="0"/>
                  </a:moveTo>
                  <a:lnTo>
                    <a:pt x="562282" y="0"/>
                  </a:lnTo>
                  <a:cubicBezTo>
                    <a:pt x="602583" y="0"/>
                    <a:pt x="635253" y="32670"/>
                    <a:pt x="635253" y="72972"/>
                  </a:cubicBezTo>
                  <a:lnTo>
                    <a:pt x="635253" y="98717"/>
                  </a:lnTo>
                  <a:cubicBezTo>
                    <a:pt x="635253" y="139018"/>
                    <a:pt x="602583" y="171688"/>
                    <a:pt x="562282" y="171688"/>
                  </a:cubicBezTo>
                  <a:lnTo>
                    <a:pt x="72972" y="171688"/>
                  </a:lnTo>
                  <a:cubicBezTo>
                    <a:pt x="32670" y="171688"/>
                    <a:pt x="0" y="139018"/>
                    <a:pt x="0" y="98717"/>
                  </a:cubicBezTo>
                  <a:lnTo>
                    <a:pt x="0" y="72972"/>
                  </a:lnTo>
                  <a:cubicBezTo>
                    <a:pt x="0" y="32670"/>
                    <a:pt x="32670" y="0"/>
                    <a:pt x="7297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35253" cy="219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139937" y="3946803"/>
            <a:ext cx="2652377" cy="716851"/>
            <a:chOff x="0" y="0"/>
            <a:chExt cx="635253" cy="1716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253" cy="171688"/>
            </a:xfrm>
            <a:custGeom>
              <a:avLst/>
              <a:gdLst/>
              <a:ahLst/>
              <a:cxnLst/>
              <a:rect r="r" b="b" t="t" l="l"/>
              <a:pathLst>
                <a:path h="171688" w="635253">
                  <a:moveTo>
                    <a:pt x="72972" y="0"/>
                  </a:moveTo>
                  <a:lnTo>
                    <a:pt x="562282" y="0"/>
                  </a:lnTo>
                  <a:cubicBezTo>
                    <a:pt x="602583" y="0"/>
                    <a:pt x="635253" y="32670"/>
                    <a:pt x="635253" y="72972"/>
                  </a:cubicBezTo>
                  <a:lnTo>
                    <a:pt x="635253" y="98717"/>
                  </a:lnTo>
                  <a:cubicBezTo>
                    <a:pt x="635253" y="139018"/>
                    <a:pt x="602583" y="171688"/>
                    <a:pt x="562282" y="171688"/>
                  </a:cubicBezTo>
                  <a:lnTo>
                    <a:pt x="72972" y="171688"/>
                  </a:lnTo>
                  <a:cubicBezTo>
                    <a:pt x="32670" y="171688"/>
                    <a:pt x="0" y="139018"/>
                    <a:pt x="0" y="98717"/>
                  </a:cubicBezTo>
                  <a:lnTo>
                    <a:pt x="0" y="72972"/>
                  </a:lnTo>
                  <a:cubicBezTo>
                    <a:pt x="0" y="32670"/>
                    <a:pt x="32670" y="0"/>
                    <a:pt x="72972" y="0"/>
                  </a:cubicBezTo>
                  <a:close/>
                </a:path>
              </a:pathLst>
            </a:custGeom>
            <a:solidFill>
              <a:srgbClr val="85D0B6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35253" cy="219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876946" y="4172006"/>
            <a:ext cx="2271125" cy="2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3"/>
              </a:lnSpc>
            </a:pPr>
            <a:r>
              <a:rPr lang="en-US" sz="1684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ขั้นตอน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30562" y="4172006"/>
            <a:ext cx="2271125" cy="2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3"/>
              </a:lnSpc>
            </a:pPr>
            <a:r>
              <a:rPr lang="en-US" sz="1684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รายละเอียด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3855" y="5161221"/>
            <a:ext cx="3888939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Input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66868" y="5161221"/>
            <a:ext cx="2986597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Source code จาก Defects4J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4365" y="6028760"/>
            <a:ext cx="2986597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Configuration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01243" y="5841989"/>
            <a:ext cx="2986597" cy="7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Population: 50 (Default), Budget 150 และ 60, Seed 11(Default)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5026" y="7075117"/>
            <a:ext cx="2986597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Output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66868" y="7075117"/>
            <a:ext cx="2986597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JUnit test cases</a:t>
            </a:r>
          </a:p>
        </p:txBody>
      </p:sp>
      <p:sp>
        <p:nvSpPr>
          <p:cNvPr name="AutoShape 51" id="51"/>
          <p:cNvSpPr/>
          <p:nvPr/>
        </p:nvSpPr>
        <p:spPr>
          <a:xfrm flipH="true">
            <a:off x="1263418" y="5693170"/>
            <a:ext cx="9301244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1214348" y="6758187"/>
            <a:ext cx="9301244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-762824">
            <a:off x="5251167" y="6341469"/>
            <a:ext cx="986832" cy="986832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-762824">
            <a:off x="5488383" y="6648057"/>
            <a:ext cx="486481" cy="390717"/>
          </a:xfrm>
          <a:custGeom>
            <a:avLst/>
            <a:gdLst/>
            <a:ahLst/>
            <a:cxnLst/>
            <a:rect r="r" b="b" t="t" l="l"/>
            <a:pathLst>
              <a:path h="390717" w="486481">
                <a:moveTo>
                  <a:pt x="0" y="0"/>
                </a:moveTo>
                <a:lnTo>
                  <a:pt x="486481" y="0"/>
                </a:lnTo>
                <a:lnTo>
                  <a:pt x="486481" y="390716"/>
                </a:lnTo>
                <a:lnTo>
                  <a:pt x="0" y="390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504365" y="7929074"/>
            <a:ext cx="2986597" cy="47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เกณฑ์ในการเลือก Test(Default)</a:t>
            </a:r>
          </a:p>
        </p:txBody>
      </p:sp>
      <p:sp>
        <p:nvSpPr>
          <p:cNvPr name="AutoShape 58" id="58"/>
          <p:cNvSpPr/>
          <p:nvPr/>
        </p:nvSpPr>
        <p:spPr>
          <a:xfrm flipH="true" flipV="true">
            <a:off x="1332657" y="7676661"/>
            <a:ext cx="9350315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1044468">
            <a:off x="7972807" y="2974796"/>
            <a:ext cx="922818" cy="922818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-549486">
            <a:off x="8245794" y="3199919"/>
            <a:ext cx="390862" cy="474491"/>
          </a:xfrm>
          <a:custGeom>
            <a:avLst/>
            <a:gdLst/>
            <a:ahLst/>
            <a:cxnLst/>
            <a:rect r="r" b="b" t="t" l="l"/>
            <a:pathLst>
              <a:path h="474491" w="390862">
                <a:moveTo>
                  <a:pt x="0" y="0"/>
                </a:moveTo>
                <a:lnTo>
                  <a:pt x="390862" y="0"/>
                </a:lnTo>
                <a:lnTo>
                  <a:pt x="390862" y="474491"/>
                </a:lnTo>
                <a:lnTo>
                  <a:pt x="0" y="474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5230214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56914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414403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05/23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61291" y="8909760"/>
            <a:ext cx="1547888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Tool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933082" y="8869422"/>
            <a:ext cx="2986597" cy="25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Evosuite 1.2.0</a:t>
            </a:r>
          </a:p>
        </p:txBody>
      </p:sp>
      <p:sp>
        <p:nvSpPr>
          <p:cNvPr name="AutoShape 69" id="69"/>
          <p:cNvSpPr/>
          <p:nvPr/>
        </p:nvSpPr>
        <p:spPr>
          <a:xfrm flipH="true">
            <a:off x="1352602" y="8720267"/>
            <a:ext cx="9212061" cy="0"/>
          </a:xfrm>
          <a:prstGeom prst="line">
            <a:avLst/>
          </a:prstGeom>
          <a:ln cap="flat" w="9525">
            <a:solidFill>
              <a:srgbClr val="424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5703134" y="7917867"/>
            <a:ext cx="4985094" cy="7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0"/>
              </a:lnSpc>
            </a:pPr>
            <a:r>
              <a:rPr lang="en-US" sz="192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LINE:BRANCH:EXCEPTION:WEAKMUTATION:OUTPUT:METHOD:METHODNOEXCEPTION:CBRANCH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1820174">
            <a:off x="14658738" y="8987667"/>
            <a:ext cx="836182" cy="8361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14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775705">
            <a:off x="14824071" y="9106801"/>
            <a:ext cx="505516" cy="620328"/>
          </a:xfrm>
          <a:custGeom>
            <a:avLst/>
            <a:gdLst/>
            <a:ahLst/>
            <a:cxnLst/>
            <a:rect r="r" b="b" t="t" l="l"/>
            <a:pathLst>
              <a:path h="620328" w="505516">
                <a:moveTo>
                  <a:pt x="0" y="0"/>
                </a:moveTo>
                <a:lnTo>
                  <a:pt x="505516" y="0"/>
                </a:lnTo>
                <a:lnTo>
                  <a:pt x="505516" y="620328"/>
                </a:lnTo>
                <a:lnTo>
                  <a:pt x="0" y="620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1044468">
            <a:off x="15569014" y="6282242"/>
            <a:ext cx="896607" cy="89660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9486">
            <a:off x="15839020" y="6524040"/>
            <a:ext cx="357191" cy="367815"/>
          </a:xfrm>
          <a:custGeom>
            <a:avLst/>
            <a:gdLst/>
            <a:ahLst/>
            <a:cxnLst/>
            <a:rect r="r" b="b" t="t" l="l"/>
            <a:pathLst>
              <a:path h="367815" w="357191">
                <a:moveTo>
                  <a:pt x="0" y="0"/>
                </a:moveTo>
                <a:lnTo>
                  <a:pt x="357191" y="0"/>
                </a:lnTo>
                <a:lnTo>
                  <a:pt x="357191" y="367815"/>
                </a:lnTo>
                <a:lnTo>
                  <a:pt x="0" y="367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31" id="31"/>
          <p:cNvGraphicFramePr/>
          <p:nvPr/>
        </p:nvGraphicFramePr>
        <p:xfrm>
          <a:off x="2050086" y="4283742"/>
          <a:ext cx="5657850" cy="3771900"/>
        </p:xfrm>
        <a:graphic>
          <a:graphicData uri="http://schemas.openxmlformats.org/presentationml/2006/ole">
            <p:oleObj imgW="6781800" imgH="490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2" id="32"/>
          <p:cNvSpPr txBox="true"/>
          <p:nvPr/>
        </p:nvSpPr>
        <p:spPr>
          <a:xfrm rot="0">
            <a:off x="1347501" y="2197966"/>
            <a:ext cx="57141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NSGA-II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1673" y="2197966"/>
            <a:ext cx="2313461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ผลทดลอง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06/23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93317" y="2397792"/>
            <a:ext cx="857277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3"/>
              </a:lnSpc>
            </a:pPr>
            <a:r>
              <a:rPr lang="en-US" sz="2411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ผลการทดลองแสดงประสิทธิภาพของ NSGA-II ในการสร้างชุดทดสอบอัตโนมัติ วัดผลด้าน Branch Coverage, เวลาที่ใช้ในการรัน และจำนวนกรณีที่แก้ไข Defect ได้สำเร็จ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7240621" y="2987073"/>
            <a:ext cx="1168293" cy="11682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223450">
            <a:off x="7534433" y="3242049"/>
            <a:ext cx="633300" cy="602427"/>
          </a:xfrm>
          <a:custGeom>
            <a:avLst/>
            <a:gdLst/>
            <a:ahLst/>
            <a:cxnLst/>
            <a:rect r="r" b="b" t="t" l="l"/>
            <a:pathLst>
              <a:path h="602427" w="633300">
                <a:moveTo>
                  <a:pt x="0" y="0"/>
                </a:moveTo>
                <a:lnTo>
                  <a:pt x="633300" y="0"/>
                </a:lnTo>
                <a:lnTo>
                  <a:pt x="633300" y="602427"/>
                </a:lnTo>
                <a:lnTo>
                  <a:pt x="0" y="6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47501" y="2197966"/>
            <a:ext cx="57141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NSGA-II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31673" y="2197966"/>
            <a:ext cx="2313461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ผลทดลอง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06/23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5534" y="3599632"/>
            <a:ext cx="5714120" cy="27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44"/>
              </a:lnSpc>
            </a:pPr>
            <a:r>
              <a:rPr lang="en-US" b="true" sz="2175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สรุปผลลัพธ์ NSGA-II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128065" y="5639437"/>
            <a:ext cx="13944600" cy="1059468"/>
            <a:chOff x="0" y="0"/>
            <a:chExt cx="2787395" cy="2117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87395" cy="211778"/>
            </a:xfrm>
            <a:custGeom>
              <a:avLst/>
              <a:gdLst/>
              <a:ahLst/>
              <a:cxnLst/>
              <a:rect r="r" b="b" t="t" l="l"/>
              <a:pathLst>
                <a:path h="211778" w="2787395">
                  <a:moveTo>
                    <a:pt x="19432" y="0"/>
                  </a:moveTo>
                  <a:lnTo>
                    <a:pt x="2767963" y="0"/>
                  </a:lnTo>
                  <a:cubicBezTo>
                    <a:pt x="2773117" y="0"/>
                    <a:pt x="2778060" y="2047"/>
                    <a:pt x="2781704" y="5691"/>
                  </a:cubicBezTo>
                  <a:cubicBezTo>
                    <a:pt x="2785348" y="9336"/>
                    <a:pt x="2787395" y="14278"/>
                    <a:pt x="2787395" y="19432"/>
                  </a:cubicBezTo>
                  <a:lnTo>
                    <a:pt x="2787395" y="192346"/>
                  </a:lnTo>
                  <a:cubicBezTo>
                    <a:pt x="2787395" y="197500"/>
                    <a:pt x="2785348" y="202442"/>
                    <a:pt x="2781704" y="206086"/>
                  </a:cubicBezTo>
                  <a:cubicBezTo>
                    <a:pt x="2778060" y="209731"/>
                    <a:pt x="2773117" y="211778"/>
                    <a:pt x="2767963" y="211778"/>
                  </a:cubicBezTo>
                  <a:lnTo>
                    <a:pt x="19432" y="211778"/>
                  </a:lnTo>
                  <a:cubicBezTo>
                    <a:pt x="14278" y="211778"/>
                    <a:pt x="9336" y="209731"/>
                    <a:pt x="5691" y="206086"/>
                  </a:cubicBezTo>
                  <a:cubicBezTo>
                    <a:pt x="2047" y="202442"/>
                    <a:pt x="0" y="197500"/>
                    <a:pt x="0" y="192346"/>
                  </a:cubicBezTo>
                  <a:lnTo>
                    <a:pt x="0" y="19432"/>
                  </a:lnTo>
                  <a:cubicBezTo>
                    <a:pt x="0" y="14278"/>
                    <a:pt x="2047" y="9336"/>
                    <a:pt x="5691" y="5691"/>
                  </a:cubicBezTo>
                  <a:cubicBezTo>
                    <a:pt x="9336" y="2047"/>
                    <a:pt x="14278" y="0"/>
                    <a:pt x="19432" y="0"/>
                  </a:cubicBezTo>
                  <a:close/>
                </a:path>
              </a:pathLst>
            </a:custGeom>
            <a:solidFill>
              <a:srgbClr val="85D0B6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787395" cy="24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28065" y="6860830"/>
            <a:ext cx="13944600" cy="1059468"/>
            <a:chOff x="0" y="0"/>
            <a:chExt cx="2787395" cy="21177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87395" cy="211778"/>
            </a:xfrm>
            <a:custGeom>
              <a:avLst/>
              <a:gdLst/>
              <a:ahLst/>
              <a:cxnLst/>
              <a:rect r="r" b="b" t="t" l="l"/>
              <a:pathLst>
                <a:path h="211778" w="2787395">
                  <a:moveTo>
                    <a:pt x="19432" y="0"/>
                  </a:moveTo>
                  <a:lnTo>
                    <a:pt x="2767963" y="0"/>
                  </a:lnTo>
                  <a:cubicBezTo>
                    <a:pt x="2773117" y="0"/>
                    <a:pt x="2778060" y="2047"/>
                    <a:pt x="2781704" y="5691"/>
                  </a:cubicBezTo>
                  <a:cubicBezTo>
                    <a:pt x="2785348" y="9336"/>
                    <a:pt x="2787395" y="14278"/>
                    <a:pt x="2787395" y="19432"/>
                  </a:cubicBezTo>
                  <a:lnTo>
                    <a:pt x="2787395" y="192346"/>
                  </a:lnTo>
                  <a:cubicBezTo>
                    <a:pt x="2787395" y="197500"/>
                    <a:pt x="2785348" y="202442"/>
                    <a:pt x="2781704" y="206086"/>
                  </a:cubicBezTo>
                  <a:cubicBezTo>
                    <a:pt x="2778060" y="209731"/>
                    <a:pt x="2773117" y="211778"/>
                    <a:pt x="2767963" y="211778"/>
                  </a:cubicBezTo>
                  <a:lnTo>
                    <a:pt x="19432" y="211778"/>
                  </a:lnTo>
                  <a:cubicBezTo>
                    <a:pt x="14278" y="211778"/>
                    <a:pt x="9336" y="209731"/>
                    <a:pt x="5691" y="206086"/>
                  </a:cubicBezTo>
                  <a:cubicBezTo>
                    <a:pt x="2047" y="202442"/>
                    <a:pt x="0" y="197500"/>
                    <a:pt x="0" y="192346"/>
                  </a:cubicBezTo>
                  <a:lnTo>
                    <a:pt x="0" y="19432"/>
                  </a:lnTo>
                  <a:cubicBezTo>
                    <a:pt x="0" y="14278"/>
                    <a:pt x="2047" y="9336"/>
                    <a:pt x="5691" y="5691"/>
                  </a:cubicBezTo>
                  <a:cubicBezTo>
                    <a:pt x="9336" y="2047"/>
                    <a:pt x="14278" y="0"/>
                    <a:pt x="19432" y="0"/>
                  </a:cubicBezTo>
                  <a:close/>
                </a:path>
              </a:pathLst>
            </a:custGeom>
            <a:solidFill>
              <a:srgbClr val="BBC8FF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87395" cy="24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762824">
            <a:off x="1880579" y="6467269"/>
            <a:ext cx="841071" cy="84107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-762824">
            <a:off x="2065801" y="6730387"/>
            <a:ext cx="449796" cy="328450"/>
          </a:xfrm>
          <a:custGeom>
            <a:avLst/>
            <a:gdLst/>
            <a:ahLst/>
            <a:cxnLst/>
            <a:rect r="r" b="b" t="t" l="l"/>
            <a:pathLst>
              <a:path h="328450" w="449796">
                <a:moveTo>
                  <a:pt x="0" y="0"/>
                </a:moveTo>
                <a:lnTo>
                  <a:pt x="449796" y="0"/>
                </a:lnTo>
                <a:lnTo>
                  <a:pt x="449796" y="328450"/>
                </a:lnTo>
                <a:lnTo>
                  <a:pt x="0" y="328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2128065" y="8082224"/>
            <a:ext cx="13944600" cy="1059468"/>
            <a:chOff x="0" y="0"/>
            <a:chExt cx="2787395" cy="21177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87395" cy="211778"/>
            </a:xfrm>
            <a:custGeom>
              <a:avLst/>
              <a:gdLst/>
              <a:ahLst/>
              <a:cxnLst/>
              <a:rect r="r" b="b" t="t" l="l"/>
              <a:pathLst>
                <a:path h="211778" w="2787395">
                  <a:moveTo>
                    <a:pt x="19432" y="0"/>
                  </a:moveTo>
                  <a:lnTo>
                    <a:pt x="2767963" y="0"/>
                  </a:lnTo>
                  <a:cubicBezTo>
                    <a:pt x="2773117" y="0"/>
                    <a:pt x="2778060" y="2047"/>
                    <a:pt x="2781704" y="5691"/>
                  </a:cubicBezTo>
                  <a:cubicBezTo>
                    <a:pt x="2785348" y="9336"/>
                    <a:pt x="2787395" y="14278"/>
                    <a:pt x="2787395" y="19432"/>
                  </a:cubicBezTo>
                  <a:lnTo>
                    <a:pt x="2787395" y="192346"/>
                  </a:lnTo>
                  <a:cubicBezTo>
                    <a:pt x="2787395" y="197500"/>
                    <a:pt x="2785348" y="202442"/>
                    <a:pt x="2781704" y="206086"/>
                  </a:cubicBezTo>
                  <a:cubicBezTo>
                    <a:pt x="2778060" y="209731"/>
                    <a:pt x="2773117" y="211778"/>
                    <a:pt x="2767963" y="211778"/>
                  </a:cubicBezTo>
                  <a:lnTo>
                    <a:pt x="19432" y="211778"/>
                  </a:lnTo>
                  <a:cubicBezTo>
                    <a:pt x="14278" y="211778"/>
                    <a:pt x="9336" y="209731"/>
                    <a:pt x="5691" y="206086"/>
                  </a:cubicBezTo>
                  <a:cubicBezTo>
                    <a:pt x="2047" y="202442"/>
                    <a:pt x="0" y="197500"/>
                    <a:pt x="0" y="192346"/>
                  </a:cubicBezTo>
                  <a:lnTo>
                    <a:pt x="0" y="19432"/>
                  </a:lnTo>
                  <a:cubicBezTo>
                    <a:pt x="0" y="14278"/>
                    <a:pt x="2047" y="9336"/>
                    <a:pt x="5691" y="5691"/>
                  </a:cubicBezTo>
                  <a:cubicBezTo>
                    <a:pt x="9336" y="2047"/>
                    <a:pt x="14278" y="0"/>
                    <a:pt x="1943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787395" cy="24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1820174">
            <a:off x="15338829" y="8988619"/>
            <a:ext cx="836182" cy="836182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141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775705">
            <a:off x="15504162" y="9107753"/>
            <a:ext cx="505516" cy="620328"/>
          </a:xfrm>
          <a:custGeom>
            <a:avLst/>
            <a:gdLst/>
            <a:ahLst/>
            <a:cxnLst/>
            <a:rect r="r" b="b" t="t" l="l"/>
            <a:pathLst>
              <a:path h="620328" w="505516">
                <a:moveTo>
                  <a:pt x="0" y="0"/>
                </a:moveTo>
                <a:lnTo>
                  <a:pt x="505517" y="0"/>
                </a:lnTo>
                <a:lnTo>
                  <a:pt x="505517" y="620328"/>
                </a:lnTo>
                <a:lnTo>
                  <a:pt x="0" y="620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2956982" y="5763262"/>
            <a:ext cx="1001823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Branch Coverage Round 1 เฉลี่ย: 43.97%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04188" y="7074313"/>
            <a:ext cx="865179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Defect Detection Rate Round1: 14.07%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56982" y="8317630"/>
            <a:ext cx="8972083" cy="31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1"/>
              </a:lnSpc>
            </a:pPr>
            <a:r>
              <a:rPr lang="en-US" sz="25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เวลาเฉลี่ย Round1 Budget 150: 236.50 วินาที/Class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56982" y="6159484"/>
            <a:ext cx="10018236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Branch Coverage Round2 เฉลี่ย: 39.19%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194674" y="7589875"/>
            <a:ext cx="865179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Defect Detection Rate Round2: 14.20%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128065" y="4437094"/>
            <a:ext cx="13944600" cy="1059468"/>
            <a:chOff x="0" y="0"/>
            <a:chExt cx="2787395" cy="21177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87395" cy="211778"/>
            </a:xfrm>
            <a:custGeom>
              <a:avLst/>
              <a:gdLst/>
              <a:ahLst/>
              <a:cxnLst/>
              <a:rect r="r" b="b" t="t" l="l"/>
              <a:pathLst>
                <a:path h="211778" w="2787395">
                  <a:moveTo>
                    <a:pt x="19432" y="0"/>
                  </a:moveTo>
                  <a:lnTo>
                    <a:pt x="2767963" y="0"/>
                  </a:lnTo>
                  <a:cubicBezTo>
                    <a:pt x="2773117" y="0"/>
                    <a:pt x="2778060" y="2047"/>
                    <a:pt x="2781704" y="5691"/>
                  </a:cubicBezTo>
                  <a:cubicBezTo>
                    <a:pt x="2785348" y="9336"/>
                    <a:pt x="2787395" y="14278"/>
                    <a:pt x="2787395" y="19432"/>
                  </a:cubicBezTo>
                  <a:lnTo>
                    <a:pt x="2787395" y="192346"/>
                  </a:lnTo>
                  <a:cubicBezTo>
                    <a:pt x="2787395" y="197500"/>
                    <a:pt x="2785348" y="202442"/>
                    <a:pt x="2781704" y="206086"/>
                  </a:cubicBezTo>
                  <a:cubicBezTo>
                    <a:pt x="2778060" y="209731"/>
                    <a:pt x="2773117" y="211778"/>
                    <a:pt x="2767963" y="211778"/>
                  </a:cubicBezTo>
                  <a:lnTo>
                    <a:pt x="19432" y="211778"/>
                  </a:lnTo>
                  <a:cubicBezTo>
                    <a:pt x="14278" y="211778"/>
                    <a:pt x="9336" y="209731"/>
                    <a:pt x="5691" y="206086"/>
                  </a:cubicBezTo>
                  <a:cubicBezTo>
                    <a:pt x="2047" y="202442"/>
                    <a:pt x="0" y="197500"/>
                    <a:pt x="0" y="192346"/>
                  </a:cubicBezTo>
                  <a:lnTo>
                    <a:pt x="0" y="19432"/>
                  </a:lnTo>
                  <a:cubicBezTo>
                    <a:pt x="0" y="14278"/>
                    <a:pt x="2047" y="9336"/>
                    <a:pt x="5691" y="5691"/>
                  </a:cubicBezTo>
                  <a:cubicBezTo>
                    <a:pt x="9336" y="2047"/>
                    <a:pt x="14278" y="0"/>
                    <a:pt x="19432" y="0"/>
                  </a:cubicBezTo>
                  <a:close/>
                </a:path>
              </a:pathLst>
            </a:custGeom>
            <a:solidFill>
              <a:srgbClr val="F4EDFC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787395" cy="24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1044468">
            <a:off x="16249106" y="6283194"/>
            <a:ext cx="896607" cy="896607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-549486">
            <a:off x="16519111" y="6524992"/>
            <a:ext cx="357191" cy="367815"/>
          </a:xfrm>
          <a:custGeom>
            <a:avLst/>
            <a:gdLst/>
            <a:ahLst/>
            <a:cxnLst/>
            <a:rect r="r" b="b" t="t" l="l"/>
            <a:pathLst>
              <a:path h="367815" w="357191">
                <a:moveTo>
                  <a:pt x="0" y="0"/>
                </a:moveTo>
                <a:lnTo>
                  <a:pt x="357191" y="0"/>
                </a:lnTo>
                <a:lnTo>
                  <a:pt x="357191" y="367815"/>
                </a:lnTo>
                <a:lnTo>
                  <a:pt x="0" y="36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9734036" y="4639545"/>
            <a:ext cx="61124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ชุดทดสอบที่ได้ทำได้ Round1: 789 จาก 854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34036" y="5030585"/>
            <a:ext cx="61124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0"/>
              </a:lnSpc>
            </a:pPr>
            <a:r>
              <a:rPr lang="en-US" sz="2500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ชุดทดสอบที่ได้ทำได้ Round 2: 669 จาก 854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956982" y="8771994"/>
            <a:ext cx="7622180" cy="31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1"/>
              </a:lnSpc>
            </a:pPr>
            <a:r>
              <a:rPr lang="en-US" sz="25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เวลาเฉลี่ย Round1 Budget 60 : 119.01 วินาที/Class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2334996" y="2889969"/>
            <a:ext cx="1426755" cy="1426755"/>
            <a:chOff x="0" y="0"/>
            <a:chExt cx="1902339" cy="1902339"/>
          </a:xfrm>
        </p:grpSpPr>
        <p:grpSp>
          <p:nvGrpSpPr>
            <p:cNvPr name="Group 15" id="15"/>
            <p:cNvGrpSpPr/>
            <p:nvPr/>
          </p:nvGrpSpPr>
          <p:grpSpPr>
            <a:xfrm rot="1820174">
              <a:off x="255946" y="255946"/>
              <a:ext cx="1390447" cy="139044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5D0B6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775705">
              <a:off x="554997" y="648958"/>
              <a:ext cx="787937" cy="613606"/>
            </a:xfrm>
            <a:custGeom>
              <a:avLst/>
              <a:gdLst/>
              <a:ahLst/>
              <a:cxnLst/>
              <a:rect r="r" b="b" t="t" l="l"/>
              <a:pathLst>
                <a:path h="613606" w="787937">
                  <a:moveTo>
                    <a:pt x="0" y="0"/>
                  </a:moveTo>
                  <a:lnTo>
                    <a:pt x="787938" y="0"/>
                  </a:lnTo>
                  <a:lnTo>
                    <a:pt x="787938" y="613606"/>
                  </a:lnTo>
                  <a:lnTo>
                    <a:pt x="0" y="613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47501" y="2972803"/>
            <a:ext cx="10851194" cy="6176259"/>
          </a:xfrm>
          <a:custGeom>
            <a:avLst/>
            <a:gdLst/>
            <a:ahLst/>
            <a:cxnLst/>
            <a:rect r="r" b="b" t="t" l="l"/>
            <a:pathLst>
              <a:path h="6176259" w="10851194">
                <a:moveTo>
                  <a:pt x="0" y="0"/>
                </a:moveTo>
                <a:lnTo>
                  <a:pt x="10851195" y="0"/>
                </a:lnTo>
                <a:lnTo>
                  <a:pt x="10851195" y="6176259"/>
                </a:lnTo>
                <a:lnTo>
                  <a:pt x="0" y="6176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128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47501" y="2197966"/>
            <a:ext cx="5792435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Symflower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07/23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48374" y="4307198"/>
            <a:ext cx="291959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3"/>
              </a:lnSpc>
            </a:pPr>
            <a:r>
              <a:rPr lang="en-US" sz="1611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Symflower เป็นเครื่องมือสร้าง Unit Test อัตโนมัติด้วย Symbolic Execution วิเคราะห์ทุกเส้นทางการทำงานของโค้ดเพื่อสร้าง Test Case ที่ครอบคลุม โดยไม่ต้องพึ่งพาข้อมูลสุ่มหรือ Fitness Function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01907" y="3460285"/>
            <a:ext cx="1851065" cy="52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4"/>
              </a:lnSpc>
            </a:pPr>
            <a:r>
              <a:rPr lang="en-US" b="true" sz="2175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หลักการทำงาน Symflower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74136" y="2197966"/>
            <a:ext cx="2076664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วิธีทดลอง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487884" y="1725674"/>
            <a:ext cx="11293407" cy="7528938"/>
          </a:xfrm>
          <a:custGeom>
            <a:avLst/>
            <a:gdLst/>
            <a:ahLst/>
            <a:cxnLst/>
            <a:rect r="r" b="b" t="t" l="l"/>
            <a:pathLst>
              <a:path h="7528938" w="11293407">
                <a:moveTo>
                  <a:pt x="0" y="0"/>
                </a:moveTo>
                <a:lnTo>
                  <a:pt x="11293407" y="0"/>
                </a:lnTo>
                <a:lnTo>
                  <a:pt x="11293407" y="7528938"/>
                </a:lnTo>
                <a:lnTo>
                  <a:pt x="0" y="7528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08/23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15831301" y="2920523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0174">
            <a:off x="8887137" y="1589457"/>
            <a:ext cx="1168293" cy="11682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223450">
            <a:off x="9168855" y="1908814"/>
            <a:ext cx="618375" cy="572770"/>
          </a:xfrm>
          <a:custGeom>
            <a:avLst/>
            <a:gdLst/>
            <a:ahLst/>
            <a:cxnLst/>
            <a:rect r="r" b="b" t="t" l="l"/>
            <a:pathLst>
              <a:path h="572770" w="618375">
                <a:moveTo>
                  <a:pt x="0" y="0"/>
                </a:moveTo>
                <a:lnTo>
                  <a:pt x="618375" y="0"/>
                </a:lnTo>
                <a:lnTo>
                  <a:pt x="618375" y="572769"/>
                </a:lnTo>
                <a:lnTo>
                  <a:pt x="0" y="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75705">
            <a:off x="16071150" y="3181820"/>
            <a:ext cx="569409" cy="488980"/>
          </a:xfrm>
          <a:custGeom>
            <a:avLst/>
            <a:gdLst/>
            <a:ahLst/>
            <a:cxnLst/>
            <a:rect r="r" b="b" t="t" l="l"/>
            <a:pathLst>
              <a:path h="488980" w="569409">
                <a:moveTo>
                  <a:pt x="0" y="0"/>
                </a:moveTo>
                <a:lnTo>
                  <a:pt x="569409" y="0"/>
                </a:lnTo>
                <a:lnTo>
                  <a:pt x="569409" y="488980"/>
                </a:lnTo>
                <a:lnTo>
                  <a:pt x="0" y="488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724582">
            <a:off x="15732439" y="4864927"/>
            <a:ext cx="2264856" cy="2568502"/>
            <a:chOff x="0" y="0"/>
            <a:chExt cx="1002975" cy="11374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2975" cy="1137442"/>
            </a:xfrm>
            <a:custGeom>
              <a:avLst/>
              <a:gdLst/>
              <a:ahLst/>
              <a:cxnLst/>
              <a:rect r="r" b="b" t="t" l="l"/>
              <a:pathLst>
                <a:path h="1137442" w="1002975">
                  <a:moveTo>
                    <a:pt x="78621" y="0"/>
                  </a:moveTo>
                  <a:lnTo>
                    <a:pt x="924354" y="0"/>
                  </a:lnTo>
                  <a:cubicBezTo>
                    <a:pt x="967775" y="0"/>
                    <a:pt x="1002975" y="35200"/>
                    <a:pt x="1002975" y="78621"/>
                  </a:cubicBezTo>
                  <a:lnTo>
                    <a:pt x="1002975" y="1058821"/>
                  </a:lnTo>
                  <a:cubicBezTo>
                    <a:pt x="1002975" y="1079673"/>
                    <a:pt x="994691" y="1099670"/>
                    <a:pt x="979947" y="1114415"/>
                  </a:cubicBezTo>
                  <a:cubicBezTo>
                    <a:pt x="965203" y="1129159"/>
                    <a:pt x="945206" y="1137442"/>
                    <a:pt x="924354" y="1137442"/>
                  </a:cubicBezTo>
                  <a:lnTo>
                    <a:pt x="78621" y="1137442"/>
                  </a:lnTo>
                  <a:cubicBezTo>
                    <a:pt x="35200" y="1137442"/>
                    <a:pt x="0" y="1102242"/>
                    <a:pt x="0" y="1058821"/>
                  </a:cubicBezTo>
                  <a:lnTo>
                    <a:pt x="0" y="78621"/>
                  </a:lnTo>
                  <a:cubicBezTo>
                    <a:pt x="0" y="35200"/>
                    <a:pt x="35200" y="0"/>
                    <a:pt x="78621" y="0"/>
                  </a:cubicBezTo>
                  <a:close/>
                </a:path>
              </a:pathLst>
            </a:custGeom>
            <a:blipFill>
              <a:blip r:embed="rId5"/>
              <a:stretch>
                <a:fillRect l="-111" t="0" r="-11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319886">
            <a:off x="17237526" y="4564557"/>
            <a:ext cx="633179" cy="633179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-1274068">
            <a:off x="17424461" y="4711428"/>
            <a:ext cx="257344" cy="331522"/>
          </a:xfrm>
          <a:custGeom>
            <a:avLst/>
            <a:gdLst/>
            <a:ahLst/>
            <a:cxnLst/>
            <a:rect r="r" b="b" t="t" l="l"/>
            <a:pathLst>
              <a:path h="331522" w="257344">
                <a:moveTo>
                  <a:pt x="0" y="0"/>
                </a:moveTo>
                <a:lnTo>
                  <a:pt x="257344" y="0"/>
                </a:lnTo>
                <a:lnTo>
                  <a:pt x="257344" y="331521"/>
                </a:lnTo>
                <a:lnTo>
                  <a:pt x="0" y="3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347501" y="3101568"/>
            <a:ext cx="6513685" cy="3055638"/>
            <a:chOff x="0" y="0"/>
            <a:chExt cx="2132757" cy="10004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32757" cy="1000498"/>
            </a:xfrm>
            <a:custGeom>
              <a:avLst/>
              <a:gdLst/>
              <a:ahLst/>
              <a:cxnLst/>
              <a:rect r="r" b="b" t="t" l="l"/>
              <a:pathLst>
                <a:path h="1000498" w="2132757">
                  <a:moveTo>
                    <a:pt x="28525" y="0"/>
                  </a:moveTo>
                  <a:lnTo>
                    <a:pt x="2104231" y="0"/>
                  </a:lnTo>
                  <a:cubicBezTo>
                    <a:pt x="2111797" y="0"/>
                    <a:pt x="2119052" y="3005"/>
                    <a:pt x="2124402" y="8355"/>
                  </a:cubicBezTo>
                  <a:cubicBezTo>
                    <a:pt x="2129751" y="13704"/>
                    <a:pt x="2132757" y="20960"/>
                    <a:pt x="2132757" y="28525"/>
                  </a:cubicBezTo>
                  <a:lnTo>
                    <a:pt x="2132757" y="971973"/>
                  </a:lnTo>
                  <a:cubicBezTo>
                    <a:pt x="2132757" y="979538"/>
                    <a:pt x="2129751" y="986794"/>
                    <a:pt x="2124402" y="992144"/>
                  </a:cubicBezTo>
                  <a:cubicBezTo>
                    <a:pt x="2119052" y="997493"/>
                    <a:pt x="2111797" y="1000498"/>
                    <a:pt x="2104231" y="1000498"/>
                  </a:cubicBezTo>
                  <a:lnTo>
                    <a:pt x="28525" y="1000498"/>
                  </a:lnTo>
                  <a:cubicBezTo>
                    <a:pt x="12771" y="1000498"/>
                    <a:pt x="0" y="987727"/>
                    <a:pt x="0" y="971973"/>
                  </a:cubicBezTo>
                  <a:lnTo>
                    <a:pt x="0" y="28525"/>
                  </a:lnTo>
                  <a:cubicBezTo>
                    <a:pt x="0" y="12771"/>
                    <a:pt x="12771" y="0"/>
                    <a:pt x="28525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32757" cy="1038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aphicFrame>
        <p:nvGraphicFramePr>
          <p:cNvPr name="Object 40" id="40"/>
          <p:cNvGraphicFramePr/>
          <p:nvPr/>
        </p:nvGraphicFramePr>
        <p:xfrm>
          <a:off x="1670653" y="3479102"/>
          <a:ext cx="3771900" cy="1885950"/>
        </p:xfrm>
        <a:graphic>
          <a:graphicData uri="http://schemas.openxmlformats.org/presentationml/2006/ole">
            <p:oleObj imgW="4521200" imgH="26289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1" id="41"/>
          <p:cNvGrpSpPr/>
          <p:nvPr/>
        </p:nvGrpSpPr>
        <p:grpSpPr>
          <a:xfrm rot="0">
            <a:off x="10449327" y="2195198"/>
            <a:ext cx="4176675" cy="939598"/>
            <a:chOff x="0" y="0"/>
            <a:chExt cx="955199" cy="21488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5199" cy="214885"/>
            </a:xfrm>
            <a:custGeom>
              <a:avLst/>
              <a:gdLst/>
              <a:ahLst/>
              <a:cxnLst/>
              <a:rect r="r" b="b" t="t" l="l"/>
              <a:pathLst>
                <a:path h="214885" w="955199">
                  <a:moveTo>
                    <a:pt x="64876" y="0"/>
                  </a:moveTo>
                  <a:lnTo>
                    <a:pt x="890323" y="0"/>
                  </a:lnTo>
                  <a:cubicBezTo>
                    <a:pt x="926153" y="0"/>
                    <a:pt x="955199" y="29046"/>
                    <a:pt x="955199" y="64876"/>
                  </a:cubicBezTo>
                  <a:lnTo>
                    <a:pt x="955199" y="150008"/>
                  </a:lnTo>
                  <a:cubicBezTo>
                    <a:pt x="955199" y="167215"/>
                    <a:pt x="948364" y="183716"/>
                    <a:pt x="936197" y="195883"/>
                  </a:cubicBezTo>
                  <a:cubicBezTo>
                    <a:pt x="924031" y="208049"/>
                    <a:pt x="907529" y="214885"/>
                    <a:pt x="890323" y="214885"/>
                  </a:cubicBezTo>
                  <a:lnTo>
                    <a:pt x="64876" y="214885"/>
                  </a:lnTo>
                  <a:cubicBezTo>
                    <a:pt x="47670" y="214885"/>
                    <a:pt x="31168" y="208049"/>
                    <a:pt x="19002" y="195883"/>
                  </a:cubicBezTo>
                  <a:cubicBezTo>
                    <a:pt x="6835" y="183716"/>
                    <a:pt x="0" y="167215"/>
                    <a:pt x="0" y="150008"/>
                  </a:cubicBezTo>
                  <a:lnTo>
                    <a:pt x="0" y="64876"/>
                  </a:lnTo>
                  <a:cubicBezTo>
                    <a:pt x="0" y="47670"/>
                    <a:pt x="6835" y="31168"/>
                    <a:pt x="19002" y="19002"/>
                  </a:cubicBezTo>
                  <a:cubicBezTo>
                    <a:pt x="31168" y="6835"/>
                    <a:pt x="47670" y="0"/>
                    <a:pt x="64876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55199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547233" y="2535273"/>
            <a:ext cx="398086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กระบ</a:t>
            </a: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วนการสร้างชุดทดสอบ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7501" y="2197966"/>
            <a:ext cx="6213441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ChatGPT และ Copilot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71267" y="2197966"/>
            <a:ext cx="2288937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วิธีทดลอง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09/23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47501" y="7214724"/>
            <a:ext cx="9867965" cy="4404481"/>
            <a:chOff x="0" y="0"/>
            <a:chExt cx="4416955" cy="197140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16954" cy="1971409"/>
            </a:xfrm>
            <a:custGeom>
              <a:avLst/>
              <a:gdLst/>
              <a:ahLst/>
              <a:cxnLst/>
              <a:rect r="r" b="b" t="t" l="l"/>
              <a:pathLst>
                <a:path h="1971409" w="4416954">
                  <a:moveTo>
                    <a:pt x="4416954" y="29028"/>
                  </a:moveTo>
                  <a:lnTo>
                    <a:pt x="4416954" y="1942380"/>
                  </a:lnTo>
                  <a:cubicBezTo>
                    <a:pt x="4416954" y="1950079"/>
                    <a:pt x="4413896" y="1957463"/>
                    <a:pt x="4408452" y="1962907"/>
                  </a:cubicBezTo>
                  <a:cubicBezTo>
                    <a:pt x="4403008" y="1968350"/>
                    <a:pt x="4395625" y="1971409"/>
                    <a:pt x="4387926" y="1971409"/>
                  </a:cubicBezTo>
                  <a:lnTo>
                    <a:pt x="29028" y="1971409"/>
                  </a:lnTo>
                  <a:cubicBezTo>
                    <a:pt x="21330" y="1971409"/>
                    <a:pt x="13946" y="1968350"/>
                    <a:pt x="8502" y="1962907"/>
                  </a:cubicBezTo>
                  <a:cubicBezTo>
                    <a:pt x="3058" y="1957463"/>
                    <a:pt x="0" y="1950079"/>
                    <a:pt x="0" y="1942380"/>
                  </a:cubicBezTo>
                  <a:lnTo>
                    <a:pt x="0" y="29028"/>
                  </a:lnTo>
                  <a:cubicBezTo>
                    <a:pt x="0" y="21330"/>
                    <a:pt x="3058" y="13946"/>
                    <a:pt x="8502" y="8502"/>
                  </a:cubicBezTo>
                  <a:cubicBezTo>
                    <a:pt x="13946" y="3058"/>
                    <a:pt x="21330" y="0"/>
                    <a:pt x="29028" y="0"/>
                  </a:cubicBezTo>
                  <a:lnTo>
                    <a:pt x="4387926" y="0"/>
                  </a:lnTo>
                  <a:cubicBezTo>
                    <a:pt x="4395625" y="0"/>
                    <a:pt x="4403008" y="3058"/>
                    <a:pt x="4408452" y="8502"/>
                  </a:cubicBezTo>
                  <a:cubicBezTo>
                    <a:pt x="4413896" y="13946"/>
                    <a:pt x="4416954" y="21330"/>
                    <a:pt x="4416954" y="29028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416955" cy="2019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64357" y="3268146"/>
            <a:ext cx="5546617" cy="4553703"/>
            <a:chOff x="0" y="0"/>
            <a:chExt cx="1816112" cy="14910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16112" cy="1491006"/>
            </a:xfrm>
            <a:custGeom>
              <a:avLst/>
              <a:gdLst/>
              <a:ahLst/>
              <a:cxnLst/>
              <a:rect r="r" b="b" t="t" l="l"/>
              <a:pathLst>
                <a:path h="1491006" w="1816112">
                  <a:moveTo>
                    <a:pt x="33499" y="0"/>
                  </a:moveTo>
                  <a:lnTo>
                    <a:pt x="1782613" y="0"/>
                  </a:lnTo>
                  <a:cubicBezTo>
                    <a:pt x="1791498" y="0"/>
                    <a:pt x="1800018" y="3529"/>
                    <a:pt x="1806301" y="9812"/>
                  </a:cubicBezTo>
                  <a:cubicBezTo>
                    <a:pt x="1812583" y="16094"/>
                    <a:pt x="1816112" y="24615"/>
                    <a:pt x="1816112" y="33499"/>
                  </a:cubicBezTo>
                  <a:lnTo>
                    <a:pt x="1816112" y="1457507"/>
                  </a:lnTo>
                  <a:cubicBezTo>
                    <a:pt x="1816112" y="1466391"/>
                    <a:pt x="1812583" y="1474912"/>
                    <a:pt x="1806301" y="1481194"/>
                  </a:cubicBezTo>
                  <a:cubicBezTo>
                    <a:pt x="1800018" y="1487476"/>
                    <a:pt x="1791498" y="1491006"/>
                    <a:pt x="1782613" y="1491006"/>
                  </a:cubicBezTo>
                  <a:lnTo>
                    <a:pt x="33499" y="1491006"/>
                  </a:lnTo>
                  <a:cubicBezTo>
                    <a:pt x="24615" y="1491006"/>
                    <a:pt x="16094" y="1487476"/>
                    <a:pt x="9812" y="1481194"/>
                  </a:cubicBezTo>
                  <a:cubicBezTo>
                    <a:pt x="3529" y="1474912"/>
                    <a:pt x="0" y="1466391"/>
                    <a:pt x="0" y="1457507"/>
                  </a:cubicBezTo>
                  <a:lnTo>
                    <a:pt x="0" y="33499"/>
                  </a:lnTo>
                  <a:cubicBezTo>
                    <a:pt x="0" y="24615"/>
                    <a:pt x="3529" y="16094"/>
                    <a:pt x="9812" y="9812"/>
                  </a:cubicBezTo>
                  <a:cubicBezTo>
                    <a:pt x="16094" y="3529"/>
                    <a:pt x="24615" y="0"/>
                    <a:pt x="33499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816112" cy="152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aphicFrame>
        <p:nvGraphicFramePr>
          <p:cNvPr name="Object 57" id="57"/>
          <p:cNvGraphicFramePr/>
          <p:nvPr/>
        </p:nvGraphicFramePr>
        <p:xfrm>
          <a:off x="10102954" y="3639621"/>
          <a:ext cx="3771900" cy="3143250"/>
        </p:xfrm>
        <a:graphic>
          <a:graphicData uri="http://schemas.openxmlformats.org/presentationml/2006/ole">
            <p:oleObj imgW="4521200" imgH="3886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58" id="58"/>
          <p:cNvGrpSpPr/>
          <p:nvPr/>
        </p:nvGrpSpPr>
        <p:grpSpPr>
          <a:xfrm rot="0">
            <a:off x="1456323" y="6348066"/>
            <a:ext cx="2617012" cy="939598"/>
            <a:chOff x="0" y="0"/>
            <a:chExt cx="598507" cy="2148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8507" cy="214885"/>
            </a:xfrm>
            <a:custGeom>
              <a:avLst/>
              <a:gdLst/>
              <a:ahLst/>
              <a:cxnLst/>
              <a:rect r="r" b="b" t="t" l="l"/>
              <a:pathLst>
                <a:path h="214885" w="598507">
                  <a:moveTo>
                    <a:pt x="103541" y="0"/>
                  </a:moveTo>
                  <a:lnTo>
                    <a:pt x="494966" y="0"/>
                  </a:lnTo>
                  <a:cubicBezTo>
                    <a:pt x="552150" y="0"/>
                    <a:pt x="598507" y="46357"/>
                    <a:pt x="598507" y="103541"/>
                  </a:cubicBezTo>
                  <a:lnTo>
                    <a:pt x="598507" y="111344"/>
                  </a:lnTo>
                  <a:cubicBezTo>
                    <a:pt x="598507" y="168528"/>
                    <a:pt x="552150" y="214885"/>
                    <a:pt x="494966" y="214885"/>
                  </a:cubicBezTo>
                  <a:lnTo>
                    <a:pt x="103541" y="214885"/>
                  </a:lnTo>
                  <a:cubicBezTo>
                    <a:pt x="76080" y="214885"/>
                    <a:pt x="49744" y="203976"/>
                    <a:pt x="30326" y="184558"/>
                  </a:cubicBezTo>
                  <a:cubicBezTo>
                    <a:pt x="10909" y="165141"/>
                    <a:pt x="0" y="138805"/>
                    <a:pt x="0" y="111344"/>
                  </a:cubicBezTo>
                  <a:lnTo>
                    <a:pt x="0" y="103541"/>
                  </a:lnTo>
                  <a:cubicBezTo>
                    <a:pt x="0" y="46357"/>
                    <a:pt x="46357" y="0"/>
                    <a:pt x="1035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598507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554228" y="6688140"/>
            <a:ext cx="2402181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กติ</a:t>
            </a: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กาที่ใช้ร่วมกัน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2539" y="7577100"/>
            <a:ext cx="11455835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774"/>
              </a:lnSpc>
              <a:buFont typeface="Arial"/>
              <a:buChar char="•"/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ใช้ prompt templates เหมือนกัน</a:t>
            </a: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ทั้งสองวิธี</a:t>
            </a:r>
          </a:p>
          <a:p>
            <a:pPr algn="l" marL="539749" indent="-269875" lvl="1">
              <a:lnSpc>
                <a:spcPts val="2774"/>
              </a:lnSpc>
              <a:buFont typeface="Arial"/>
              <a:buChar char="•"/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ใช้บริบทจาก buggy source และไม่แสดง fixed source ให้ AI</a:t>
            </a:r>
          </a:p>
          <a:p>
            <a:pPr algn="l" marL="539749" indent="-269875" lvl="1">
              <a:lnSpc>
                <a:spcPts val="2774"/>
              </a:lnSpc>
              <a:buFont typeface="Arial"/>
              <a:buChar char="•"/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จำกัดบริบท source ของ P02 ไม่เกิน 12,000 ตัวอักษร</a:t>
            </a:r>
          </a:p>
          <a:p>
            <a:pPr algn="l" marL="539749" indent="-269875" lvl="1">
              <a:lnSpc>
                <a:spcPts val="2774"/>
              </a:lnSpc>
              <a:buFont typeface="Arial"/>
              <a:buChar char="•"/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P04 เพิ่มชุดทดสอบหรือส่ง NO_CHANGE</a:t>
            </a:r>
          </a:p>
          <a:p>
            <a:pPr algn="l" marL="539749" indent="-269875" lvl="1">
              <a:lnSpc>
                <a:spcPts val="2774"/>
              </a:lnSpc>
              <a:buFont typeface="Arial"/>
              <a:buChar char="•"/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ส่วนขยายที่ไม่ผ่าน validation ถูกปฏิเสธตามกติกาของ protocol รุ่นล่าสุด</a:t>
            </a:r>
          </a:p>
          <a:p>
            <a:pPr algn="l" marL="0" indent="0" lvl="0">
              <a:lnSpc>
                <a:spcPts val="2774"/>
              </a:lnSpc>
            </a:pPr>
          </a:p>
        </p:txBody>
      </p:sp>
      <p:grpSp>
        <p:nvGrpSpPr>
          <p:cNvPr name="Group 63" id="63"/>
          <p:cNvGrpSpPr/>
          <p:nvPr/>
        </p:nvGrpSpPr>
        <p:grpSpPr>
          <a:xfrm rot="0">
            <a:off x="11291138" y="8073153"/>
            <a:ext cx="6082023" cy="938933"/>
            <a:chOff x="0" y="0"/>
            <a:chExt cx="1991419" cy="3074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91419" cy="307432"/>
            </a:xfrm>
            <a:custGeom>
              <a:avLst/>
              <a:gdLst/>
              <a:ahLst/>
              <a:cxnLst/>
              <a:rect r="r" b="b" t="t" l="l"/>
              <a:pathLst>
                <a:path h="307432" w="1991419">
                  <a:moveTo>
                    <a:pt x="30550" y="0"/>
                  </a:moveTo>
                  <a:lnTo>
                    <a:pt x="1960869" y="0"/>
                  </a:lnTo>
                  <a:cubicBezTo>
                    <a:pt x="1977741" y="0"/>
                    <a:pt x="1991419" y="13678"/>
                    <a:pt x="1991419" y="30550"/>
                  </a:cubicBezTo>
                  <a:lnTo>
                    <a:pt x="1991419" y="276882"/>
                  </a:lnTo>
                  <a:cubicBezTo>
                    <a:pt x="1991419" y="284984"/>
                    <a:pt x="1988200" y="292755"/>
                    <a:pt x="1982471" y="298484"/>
                  </a:cubicBezTo>
                  <a:cubicBezTo>
                    <a:pt x="1976742" y="304213"/>
                    <a:pt x="1968971" y="307432"/>
                    <a:pt x="1960869" y="307432"/>
                  </a:cubicBezTo>
                  <a:lnTo>
                    <a:pt x="30550" y="307432"/>
                  </a:lnTo>
                  <a:cubicBezTo>
                    <a:pt x="22448" y="307432"/>
                    <a:pt x="14677" y="304213"/>
                    <a:pt x="8948" y="298484"/>
                  </a:cubicBezTo>
                  <a:cubicBezTo>
                    <a:pt x="3219" y="292755"/>
                    <a:pt x="0" y="284984"/>
                    <a:pt x="0" y="276882"/>
                  </a:cubicBezTo>
                  <a:lnTo>
                    <a:pt x="0" y="30550"/>
                  </a:lnTo>
                  <a:cubicBezTo>
                    <a:pt x="0" y="22448"/>
                    <a:pt x="3219" y="14677"/>
                    <a:pt x="8948" y="8948"/>
                  </a:cubicBezTo>
                  <a:cubicBezTo>
                    <a:pt x="14677" y="3219"/>
                    <a:pt x="22448" y="0"/>
                    <a:pt x="3055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91419" cy="345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477002" y="8449784"/>
            <a:ext cx="57324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4"/>
              </a:lnSpc>
            </a:pPr>
            <a:r>
              <a:rPr lang="en-US" sz="2499" spc="-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Experiment/protocol/ai_final_protocol.md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87737" y="2936642"/>
            <a:ext cx="11858613" cy="5999244"/>
            <a:chOff x="0" y="0"/>
            <a:chExt cx="3882831" cy="19643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82831" cy="1964315"/>
            </a:xfrm>
            <a:custGeom>
              <a:avLst/>
              <a:gdLst/>
              <a:ahLst/>
              <a:cxnLst/>
              <a:rect r="r" b="b" t="t" l="l"/>
              <a:pathLst>
                <a:path h="1964315" w="3882831">
                  <a:moveTo>
                    <a:pt x="15668" y="0"/>
                  </a:moveTo>
                  <a:lnTo>
                    <a:pt x="3867162" y="0"/>
                  </a:lnTo>
                  <a:cubicBezTo>
                    <a:pt x="3871318" y="0"/>
                    <a:pt x="3875303" y="1651"/>
                    <a:pt x="3878242" y="4589"/>
                  </a:cubicBezTo>
                  <a:cubicBezTo>
                    <a:pt x="3881180" y="7528"/>
                    <a:pt x="3882831" y="11513"/>
                    <a:pt x="3882831" y="15668"/>
                  </a:cubicBezTo>
                  <a:lnTo>
                    <a:pt x="3882831" y="1948647"/>
                  </a:lnTo>
                  <a:cubicBezTo>
                    <a:pt x="3882831" y="1952802"/>
                    <a:pt x="3881180" y="1956787"/>
                    <a:pt x="3878242" y="1959726"/>
                  </a:cubicBezTo>
                  <a:cubicBezTo>
                    <a:pt x="3875303" y="1962664"/>
                    <a:pt x="3871318" y="1964315"/>
                    <a:pt x="3867162" y="1964315"/>
                  </a:cubicBezTo>
                  <a:lnTo>
                    <a:pt x="15668" y="1964315"/>
                  </a:lnTo>
                  <a:cubicBezTo>
                    <a:pt x="11513" y="1964315"/>
                    <a:pt x="7528" y="1962664"/>
                    <a:pt x="4589" y="1959726"/>
                  </a:cubicBezTo>
                  <a:cubicBezTo>
                    <a:pt x="1651" y="1956787"/>
                    <a:pt x="0" y="1952802"/>
                    <a:pt x="0" y="1948647"/>
                  </a:cubicBezTo>
                  <a:lnTo>
                    <a:pt x="0" y="15668"/>
                  </a:lnTo>
                  <a:cubicBezTo>
                    <a:pt x="0" y="11513"/>
                    <a:pt x="1651" y="7528"/>
                    <a:pt x="4589" y="4589"/>
                  </a:cubicBezTo>
                  <a:cubicBezTo>
                    <a:pt x="7528" y="1651"/>
                    <a:pt x="11513" y="0"/>
                    <a:pt x="15668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82831" cy="2002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762824">
            <a:off x="1100015" y="6580189"/>
            <a:ext cx="841071" cy="84107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762824">
            <a:off x="1262115" y="6809669"/>
            <a:ext cx="485933" cy="414821"/>
          </a:xfrm>
          <a:custGeom>
            <a:avLst/>
            <a:gdLst/>
            <a:ahLst/>
            <a:cxnLst/>
            <a:rect r="r" b="b" t="t" l="l"/>
            <a:pathLst>
              <a:path h="414821" w="485933">
                <a:moveTo>
                  <a:pt x="0" y="0"/>
                </a:moveTo>
                <a:lnTo>
                  <a:pt x="485933" y="0"/>
                </a:lnTo>
                <a:lnTo>
                  <a:pt x="485933" y="414821"/>
                </a:lnTo>
                <a:lnTo>
                  <a:pt x="0" y="414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25" id="25"/>
          <p:cNvGraphicFramePr/>
          <p:nvPr/>
        </p:nvGraphicFramePr>
        <p:xfrm>
          <a:off x="2059259" y="3140019"/>
          <a:ext cx="5657850" cy="5657850"/>
        </p:xfrm>
        <a:graphic>
          <a:graphicData uri="http://schemas.openxmlformats.org/presentationml/2006/ole">
            <p:oleObj imgW="6781800" imgH="6781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14693148" y="2390752"/>
            <a:ext cx="1513836" cy="939598"/>
            <a:chOff x="0" y="0"/>
            <a:chExt cx="346212" cy="2148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6212" cy="214885"/>
            </a:xfrm>
            <a:custGeom>
              <a:avLst/>
              <a:gdLst/>
              <a:ahLst/>
              <a:cxnLst/>
              <a:rect r="r" b="b" t="t" l="l"/>
              <a:pathLst>
                <a:path h="214885" w="346212">
                  <a:moveTo>
                    <a:pt x="107442" y="0"/>
                  </a:moveTo>
                  <a:lnTo>
                    <a:pt x="238770" y="0"/>
                  </a:lnTo>
                  <a:cubicBezTo>
                    <a:pt x="298108" y="0"/>
                    <a:pt x="346212" y="48104"/>
                    <a:pt x="346212" y="107442"/>
                  </a:cubicBezTo>
                  <a:lnTo>
                    <a:pt x="346212" y="107442"/>
                  </a:lnTo>
                  <a:cubicBezTo>
                    <a:pt x="346212" y="166781"/>
                    <a:pt x="298108" y="214885"/>
                    <a:pt x="238770" y="214885"/>
                  </a:cubicBezTo>
                  <a:lnTo>
                    <a:pt x="107442" y="214885"/>
                  </a:lnTo>
                  <a:cubicBezTo>
                    <a:pt x="48104" y="214885"/>
                    <a:pt x="0" y="166781"/>
                    <a:pt x="0" y="107442"/>
                  </a:cubicBezTo>
                  <a:lnTo>
                    <a:pt x="0" y="107442"/>
                  </a:lnTo>
                  <a:cubicBezTo>
                    <a:pt x="0" y="48104"/>
                    <a:pt x="48104" y="0"/>
                    <a:pt x="107442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4621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22575" y="3448709"/>
            <a:ext cx="3327312" cy="3049239"/>
            <a:chOff x="0" y="0"/>
            <a:chExt cx="1489323" cy="13648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89323" cy="1364814"/>
            </a:xfrm>
            <a:custGeom>
              <a:avLst/>
              <a:gdLst/>
              <a:ahLst/>
              <a:cxnLst/>
              <a:rect r="r" b="b" t="t" l="l"/>
              <a:pathLst>
                <a:path h="1364814" w="1489323">
                  <a:moveTo>
                    <a:pt x="1489323" y="86091"/>
                  </a:moveTo>
                  <a:lnTo>
                    <a:pt x="1489323" y="1278723"/>
                  </a:lnTo>
                  <a:cubicBezTo>
                    <a:pt x="1489323" y="1301556"/>
                    <a:pt x="1480252" y="1323453"/>
                    <a:pt x="1464107" y="1339598"/>
                  </a:cubicBezTo>
                  <a:cubicBezTo>
                    <a:pt x="1447962" y="1355744"/>
                    <a:pt x="1426065" y="1364814"/>
                    <a:pt x="1403232" y="1364814"/>
                  </a:cubicBezTo>
                  <a:lnTo>
                    <a:pt x="86091" y="1364814"/>
                  </a:lnTo>
                  <a:cubicBezTo>
                    <a:pt x="38544" y="1364814"/>
                    <a:pt x="0" y="1326270"/>
                    <a:pt x="0" y="1278723"/>
                  </a:cubicBezTo>
                  <a:lnTo>
                    <a:pt x="0" y="86091"/>
                  </a:lnTo>
                  <a:cubicBezTo>
                    <a:pt x="0" y="38544"/>
                    <a:pt x="38544" y="0"/>
                    <a:pt x="86091" y="0"/>
                  </a:cubicBezTo>
                  <a:lnTo>
                    <a:pt x="1403232" y="0"/>
                  </a:lnTo>
                  <a:cubicBezTo>
                    <a:pt x="1450779" y="0"/>
                    <a:pt x="1489323" y="38544"/>
                    <a:pt x="1489323" y="86091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89323" cy="1412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922575" y="7272877"/>
            <a:ext cx="3336725" cy="1061938"/>
            <a:chOff x="0" y="0"/>
            <a:chExt cx="1092534" cy="3477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2534" cy="347707"/>
            </a:xfrm>
            <a:custGeom>
              <a:avLst/>
              <a:gdLst/>
              <a:ahLst/>
              <a:cxnLst/>
              <a:rect r="r" b="b" t="t" l="l"/>
              <a:pathLst>
                <a:path h="347707" w="1092534">
                  <a:moveTo>
                    <a:pt x="55685" y="0"/>
                  </a:moveTo>
                  <a:lnTo>
                    <a:pt x="1036849" y="0"/>
                  </a:lnTo>
                  <a:cubicBezTo>
                    <a:pt x="1067603" y="0"/>
                    <a:pt x="1092534" y="24931"/>
                    <a:pt x="1092534" y="55685"/>
                  </a:cubicBezTo>
                  <a:lnTo>
                    <a:pt x="1092534" y="292022"/>
                  </a:lnTo>
                  <a:cubicBezTo>
                    <a:pt x="1092534" y="306791"/>
                    <a:pt x="1086667" y="320955"/>
                    <a:pt x="1076224" y="331398"/>
                  </a:cubicBezTo>
                  <a:cubicBezTo>
                    <a:pt x="1065781" y="341841"/>
                    <a:pt x="1051617" y="347707"/>
                    <a:pt x="1036849" y="347707"/>
                  </a:cubicBezTo>
                  <a:lnTo>
                    <a:pt x="55685" y="347707"/>
                  </a:lnTo>
                  <a:cubicBezTo>
                    <a:pt x="24931" y="347707"/>
                    <a:pt x="0" y="322776"/>
                    <a:pt x="0" y="292022"/>
                  </a:cubicBezTo>
                  <a:lnTo>
                    <a:pt x="0" y="55685"/>
                  </a:lnTo>
                  <a:cubicBezTo>
                    <a:pt x="0" y="24931"/>
                    <a:pt x="24931" y="0"/>
                    <a:pt x="55685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2534" cy="38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47501" y="2197966"/>
            <a:ext cx="57141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ChatGPT และ Copilot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34166" y="2197966"/>
            <a:ext cx="2219074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ผลทดลอง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10/23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895665" y="2721486"/>
            <a:ext cx="1108802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สรุปผล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93304" y="3713169"/>
            <a:ext cx="2585854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0"/>
              </a:lnSpc>
            </a:pPr>
            <a:r>
              <a:rPr lang="en-US" sz="2000" spc="-4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ChatGPT สร้างชุดทดสอบที่ผ่านการประเมินและตรวจพบ fault ได้มากกว่า ส่วนอัตราตรวจพบ fault เฉพาะกลุ่ม DONE ของทั้งสองวิธีใกล้เคียงกัน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976631" y="7421873"/>
            <a:ext cx="3379714" cy="67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17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Report/d</a:t>
            </a:r>
            <a:r>
              <a:rPr lang="en-US" sz="17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ata/ai/case_results.csv</a:t>
            </a:r>
          </a:p>
          <a:p>
            <a:pPr algn="l" marL="0" indent="0" lvl="0">
              <a:lnSpc>
                <a:spcPts val="2703"/>
              </a:lnSpc>
            </a:pPr>
            <a:r>
              <a:rPr lang="en-US" sz="17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Report/summaries/ai_summary.md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1820174">
            <a:off x="15866541" y="7243562"/>
            <a:ext cx="1168293" cy="11682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223450">
            <a:off x="16130348" y="7534598"/>
            <a:ext cx="640678" cy="586220"/>
          </a:xfrm>
          <a:custGeom>
            <a:avLst/>
            <a:gdLst/>
            <a:ahLst/>
            <a:cxnLst/>
            <a:rect r="r" b="b" t="t" l="l"/>
            <a:pathLst>
              <a:path h="586220" w="640678">
                <a:moveTo>
                  <a:pt x="0" y="0"/>
                </a:moveTo>
                <a:lnTo>
                  <a:pt x="640678" y="0"/>
                </a:lnTo>
                <a:lnTo>
                  <a:pt x="640678" y="586220"/>
                </a:lnTo>
                <a:lnTo>
                  <a:pt x="0" y="58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75705">
            <a:off x="15920766" y="2592383"/>
            <a:ext cx="621520" cy="480124"/>
          </a:xfrm>
          <a:custGeom>
            <a:avLst/>
            <a:gdLst/>
            <a:ahLst/>
            <a:cxnLst/>
            <a:rect r="r" b="b" t="t" l="l"/>
            <a:pathLst>
              <a:path h="480124" w="621520">
                <a:moveTo>
                  <a:pt x="0" y="0"/>
                </a:moveTo>
                <a:lnTo>
                  <a:pt x="621519" y="0"/>
                </a:lnTo>
                <a:lnTo>
                  <a:pt x="621519" y="480124"/>
                </a:lnTo>
                <a:lnTo>
                  <a:pt x="0" y="480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764829" y="3273070"/>
            <a:ext cx="8274843" cy="4735597"/>
            <a:chOff x="0" y="0"/>
            <a:chExt cx="2514313" cy="14389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14313" cy="1438913"/>
            </a:xfrm>
            <a:custGeom>
              <a:avLst/>
              <a:gdLst/>
              <a:ahLst/>
              <a:cxnLst/>
              <a:rect r="r" b="b" t="t" l="l"/>
              <a:pathLst>
                <a:path h="1438913" w="2514313">
                  <a:moveTo>
                    <a:pt x="21519" y="0"/>
                  </a:moveTo>
                  <a:lnTo>
                    <a:pt x="2492795" y="0"/>
                  </a:lnTo>
                  <a:cubicBezTo>
                    <a:pt x="2504679" y="0"/>
                    <a:pt x="2514313" y="9634"/>
                    <a:pt x="2514313" y="21519"/>
                  </a:cubicBezTo>
                  <a:lnTo>
                    <a:pt x="2514313" y="1417394"/>
                  </a:lnTo>
                  <a:cubicBezTo>
                    <a:pt x="2514313" y="1423101"/>
                    <a:pt x="2512046" y="1428574"/>
                    <a:pt x="2508011" y="1432610"/>
                  </a:cubicBezTo>
                  <a:cubicBezTo>
                    <a:pt x="2503975" y="1436646"/>
                    <a:pt x="2498502" y="1438913"/>
                    <a:pt x="2492795" y="1438913"/>
                  </a:cubicBezTo>
                  <a:lnTo>
                    <a:pt x="21519" y="1438913"/>
                  </a:lnTo>
                  <a:cubicBezTo>
                    <a:pt x="9634" y="1438913"/>
                    <a:pt x="0" y="1429278"/>
                    <a:pt x="0" y="1417394"/>
                  </a:cubicBezTo>
                  <a:lnTo>
                    <a:pt x="0" y="21519"/>
                  </a:lnTo>
                  <a:cubicBezTo>
                    <a:pt x="0" y="15812"/>
                    <a:pt x="2267" y="10338"/>
                    <a:pt x="6303" y="6303"/>
                  </a:cubicBezTo>
                  <a:cubicBezTo>
                    <a:pt x="10338" y="2267"/>
                    <a:pt x="15812" y="0"/>
                    <a:pt x="2151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9446" r="0" b="-39458"/>
              </a:stretch>
            </a:blipFill>
          </p:spPr>
        </p:sp>
      </p:grpSp>
      <p:graphicFrame>
        <p:nvGraphicFramePr>
          <p:cNvPr name="Object 30" id="30"/>
          <p:cNvGraphicFramePr/>
          <p:nvPr/>
        </p:nvGraphicFramePr>
        <p:xfrm>
          <a:off x="3110444" y="3577671"/>
          <a:ext cx="7543800" cy="3143250"/>
        </p:xfrm>
        <a:graphic>
          <a:graphicData uri="http://schemas.openxmlformats.org/presentationml/2006/ole">
            <p:oleObj imgW="9042400" imgH="4648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1" id="31"/>
          <p:cNvGrpSpPr/>
          <p:nvPr/>
        </p:nvGrpSpPr>
        <p:grpSpPr>
          <a:xfrm rot="-762824">
            <a:off x="1990958" y="4974259"/>
            <a:ext cx="1019772" cy="101977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762824">
            <a:off x="2220093" y="5275336"/>
            <a:ext cx="561502" cy="417617"/>
          </a:xfrm>
          <a:custGeom>
            <a:avLst/>
            <a:gdLst/>
            <a:ahLst/>
            <a:cxnLst/>
            <a:rect r="r" b="b" t="t" l="l"/>
            <a:pathLst>
              <a:path h="417617" w="561502">
                <a:moveTo>
                  <a:pt x="0" y="0"/>
                </a:moveTo>
                <a:lnTo>
                  <a:pt x="561502" y="0"/>
                </a:lnTo>
                <a:lnTo>
                  <a:pt x="561502" y="417617"/>
                </a:lnTo>
                <a:lnTo>
                  <a:pt x="0" y="417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1044468">
            <a:off x="10132826" y="2614532"/>
            <a:ext cx="1042835" cy="104283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549486">
            <a:off x="10437208" y="2891935"/>
            <a:ext cx="434072" cy="488029"/>
          </a:xfrm>
          <a:custGeom>
            <a:avLst/>
            <a:gdLst/>
            <a:ahLst/>
            <a:cxnLst/>
            <a:rect r="r" b="b" t="t" l="l"/>
            <a:pathLst>
              <a:path h="488029" w="434072">
                <a:moveTo>
                  <a:pt x="0" y="0"/>
                </a:moveTo>
                <a:lnTo>
                  <a:pt x="434071" y="0"/>
                </a:lnTo>
                <a:lnTo>
                  <a:pt x="434071" y="488029"/>
                </a:lnTo>
                <a:lnTo>
                  <a:pt x="0" y="488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6358" t="-64171" r="-26611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47501" y="2197966"/>
            <a:ext cx="6452652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AI: เปรียบเทียบบนกรณีร่วม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11/23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048374" y="2528941"/>
            <a:ext cx="1513836" cy="939598"/>
            <a:chOff x="0" y="0"/>
            <a:chExt cx="346212" cy="2148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6212" cy="214885"/>
            </a:xfrm>
            <a:custGeom>
              <a:avLst/>
              <a:gdLst/>
              <a:ahLst/>
              <a:cxnLst/>
              <a:rect r="r" b="b" t="t" l="l"/>
              <a:pathLst>
                <a:path h="214885" w="346212">
                  <a:moveTo>
                    <a:pt x="107442" y="0"/>
                  </a:moveTo>
                  <a:lnTo>
                    <a:pt x="238770" y="0"/>
                  </a:lnTo>
                  <a:cubicBezTo>
                    <a:pt x="298108" y="0"/>
                    <a:pt x="346212" y="48104"/>
                    <a:pt x="346212" y="107442"/>
                  </a:cubicBezTo>
                  <a:lnTo>
                    <a:pt x="346212" y="107442"/>
                  </a:lnTo>
                  <a:cubicBezTo>
                    <a:pt x="346212" y="166781"/>
                    <a:pt x="298108" y="214885"/>
                    <a:pt x="238770" y="214885"/>
                  </a:cubicBezTo>
                  <a:lnTo>
                    <a:pt x="107442" y="214885"/>
                  </a:lnTo>
                  <a:cubicBezTo>
                    <a:pt x="48104" y="214885"/>
                    <a:pt x="0" y="166781"/>
                    <a:pt x="0" y="107442"/>
                  </a:cubicBezTo>
                  <a:lnTo>
                    <a:pt x="0" y="107442"/>
                  </a:lnTo>
                  <a:cubicBezTo>
                    <a:pt x="0" y="48104"/>
                    <a:pt x="48104" y="0"/>
                    <a:pt x="107442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4621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250891" y="2859675"/>
            <a:ext cx="1167923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ผลที่พบ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048374" y="5623945"/>
            <a:ext cx="1513836" cy="939598"/>
            <a:chOff x="0" y="0"/>
            <a:chExt cx="346212" cy="21488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6212" cy="214885"/>
            </a:xfrm>
            <a:custGeom>
              <a:avLst/>
              <a:gdLst/>
              <a:ahLst/>
              <a:cxnLst/>
              <a:rect r="r" b="b" t="t" l="l"/>
              <a:pathLst>
                <a:path h="214885" w="346212">
                  <a:moveTo>
                    <a:pt x="107442" y="0"/>
                  </a:moveTo>
                  <a:lnTo>
                    <a:pt x="238770" y="0"/>
                  </a:lnTo>
                  <a:cubicBezTo>
                    <a:pt x="298108" y="0"/>
                    <a:pt x="346212" y="48104"/>
                    <a:pt x="346212" y="107442"/>
                  </a:cubicBezTo>
                  <a:lnTo>
                    <a:pt x="346212" y="107442"/>
                  </a:lnTo>
                  <a:cubicBezTo>
                    <a:pt x="346212" y="166781"/>
                    <a:pt x="298108" y="214885"/>
                    <a:pt x="238770" y="214885"/>
                  </a:cubicBezTo>
                  <a:lnTo>
                    <a:pt x="107442" y="214885"/>
                  </a:lnTo>
                  <a:cubicBezTo>
                    <a:pt x="48104" y="214885"/>
                    <a:pt x="0" y="166781"/>
                    <a:pt x="0" y="107442"/>
                  </a:cubicBezTo>
                  <a:lnTo>
                    <a:pt x="0" y="107442"/>
                  </a:lnTo>
                  <a:cubicBezTo>
                    <a:pt x="0" y="48104"/>
                    <a:pt x="48104" y="0"/>
                    <a:pt x="107442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46212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149632" y="5954679"/>
            <a:ext cx="1311319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ข้อจำกัด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917558" y="3864755"/>
            <a:ext cx="3834588" cy="92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sz="2000" spc="-4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บนกรณีร่วม ChatGPT มีค่าที่รายงานสูงกว่า GitHub Copilot ทั้ง fault detection และ coverage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816900" y="6906323"/>
            <a:ext cx="3834588" cy="92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sz="2000" spc="-4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ผล</a:t>
            </a:r>
            <a:r>
              <a:rPr lang="en-US" sz="2000" spc="-4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นี้เป็นสถิติเชิงพรรณนาเฉพาะกรณีที่ทั้งสองวิธีประเมินสำเร็จ ยังไม่ใช่ข้อสรุปความแตกต่างอย่างมีนัยสำคัญทางสถิติ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665372" y="8446817"/>
            <a:ext cx="4433942" cy="782908"/>
            <a:chOff x="0" y="0"/>
            <a:chExt cx="1451793" cy="2563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51793" cy="256345"/>
            </a:xfrm>
            <a:custGeom>
              <a:avLst/>
              <a:gdLst/>
              <a:ahLst/>
              <a:cxnLst/>
              <a:rect r="r" b="b" t="t" l="l"/>
              <a:pathLst>
                <a:path h="256345" w="1451793">
                  <a:moveTo>
                    <a:pt x="41905" y="0"/>
                  </a:moveTo>
                  <a:lnTo>
                    <a:pt x="1409887" y="0"/>
                  </a:lnTo>
                  <a:cubicBezTo>
                    <a:pt x="1421001" y="0"/>
                    <a:pt x="1431660" y="4415"/>
                    <a:pt x="1439519" y="12274"/>
                  </a:cubicBezTo>
                  <a:cubicBezTo>
                    <a:pt x="1447378" y="20133"/>
                    <a:pt x="1451793" y="30791"/>
                    <a:pt x="1451793" y="41905"/>
                  </a:cubicBezTo>
                  <a:lnTo>
                    <a:pt x="1451793" y="214440"/>
                  </a:lnTo>
                  <a:cubicBezTo>
                    <a:pt x="1451793" y="225554"/>
                    <a:pt x="1447378" y="236213"/>
                    <a:pt x="1439519" y="244071"/>
                  </a:cubicBezTo>
                  <a:cubicBezTo>
                    <a:pt x="1431660" y="251930"/>
                    <a:pt x="1421001" y="256345"/>
                    <a:pt x="1409887" y="256345"/>
                  </a:cubicBezTo>
                  <a:lnTo>
                    <a:pt x="41905" y="256345"/>
                  </a:lnTo>
                  <a:cubicBezTo>
                    <a:pt x="30791" y="256345"/>
                    <a:pt x="20133" y="251930"/>
                    <a:pt x="12274" y="244071"/>
                  </a:cubicBezTo>
                  <a:cubicBezTo>
                    <a:pt x="4415" y="236213"/>
                    <a:pt x="0" y="225554"/>
                    <a:pt x="0" y="214440"/>
                  </a:cubicBezTo>
                  <a:lnTo>
                    <a:pt x="0" y="41905"/>
                  </a:lnTo>
                  <a:cubicBezTo>
                    <a:pt x="0" y="30791"/>
                    <a:pt x="4415" y="20133"/>
                    <a:pt x="12274" y="12274"/>
                  </a:cubicBezTo>
                  <a:cubicBezTo>
                    <a:pt x="20133" y="4415"/>
                    <a:pt x="30791" y="0"/>
                    <a:pt x="41905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451793" cy="294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4932876" y="8671726"/>
            <a:ext cx="3834588" cy="31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sz="2000" spc="-4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Report/summaries/ai_summary.md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20550" y="2987858"/>
            <a:ext cx="10163820" cy="5790373"/>
            <a:chOff x="0" y="0"/>
            <a:chExt cx="3327910" cy="18959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7910" cy="1895925"/>
            </a:xfrm>
            <a:custGeom>
              <a:avLst/>
              <a:gdLst/>
              <a:ahLst/>
              <a:cxnLst/>
              <a:rect r="r" b="b" t="t" l="l"/>
              <a:pathLst>
                <a:path h="1895925" w="3327910">
                  <a:moveTo>
                    <a:pt x="18281" y="0"/>
                  </a:moveTo>
                  <a:lnTo>
                    <a:pt x="3309629" y="0"/>
                  </a:lnTo>
                  <a:cubicBezTo>
                    <a:pt x="3314477" y="0"/>
                    <a:pt x="3319127" y="1926"/>
                    <a:pt x="3322555" y="5354"/>
                  </a:cubicBezTo>
                  <a:cubicBezTo>
                    <a:pt x="3325984" y="8783"/>
                    <a:pt x="3327910" y="13433"/>
                    <a:pt x="3327910" y="18281"/>
                  </a:cubicBezTo>
                  <a:lnTo>
                    <a:pt x="3327910" y="1877644"/>
                  </a:lnTo>
                  <a:cubicBezTo>
                    <a:pt x="3327910" y="1882492"/>
                    <a:pt x="3325984" y="1887142"/>
                    <a:pt x="3322555" y="1890570"/>
                  </a:cubicBezTo>
                  <a:cubicBezTo>
                    <a:pt x="3319127" y="1893999"/>
                    <a:pt x="3314477" y="1895925"/>
                    <a:pt x="3309629" y="1895925"/>
                  </a:cubicBezTo>
                  <a:lnTo>
                    <a:pt x="18281" y="1895925"/>
                  </a:lnTo>
                  <a:cubicBezTo>
                    <a:pt x="13433" y="1895925"/>
                    <a:pt x="8783" y="1893999"/>
                    <a:pt x="5354" y="1890570"/>
                  </a:cubicBezTo>
                  <a:cubicBezTo>
                    <a:pt x="1926" y="1887142"/>
                    <a:pt x="0" y="1882492"/>
                    <a:pt x="0" y="1877644"/>
                  </a:cubicBezTo>
                  <a:lnTo>
                    <a:pt x="0" y="18281"/>
                  </a:lnTo>
                  <a:cubicBezTo>
                    <a:pt x="0" y="13433"/>
                    <a:pt x="1926" y="8783"/>
                    <a:pt x="5354" y="5354"/>
                  </a:cubicBezTo>
                  <a:cubicBezTo>
                    <a:pt x="8783" y="1926"/>
                    <a:pt x="13433" y="0"/>
                    <a:pt x="18281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27910" cy="193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aphicFrame>
        <p:nvGraphicFramePr>
          <p:cNvPr name="Object 21" id="21"/>
          <p:cNvGraphicFramePr/>
          <p:nvPr/>
        </p:nvGraphicFramePr>
        <p:xfrm>
          <a:off x="1867999" y="3260232"/>
          <a:ext cx="7543800" cy="3771900"/>
        </p:xfrm>
        <a:graphic>
          <a:graphicData uri="http://schemas.openxmlformats.org/presentationml/2006/ole">
            <p:oleObj imgW="90424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22" id="22"/>
          <p:cNvGrpSpPr/>
          <p:nvPr/>
        </p:nvGrpSpPr>
        <p:grpSpPr>
          <a:xfrm rot="-762824">
            <a:off x="1100015" y="6580189"/>
            <a:ext cx="841071" cy="84107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762824">
            <a:off x="1260895" y="6853130"/>
            <a:ext cx="457068" cy="327029"/>
          </a:xfrm>
          <a:custGeom>
            <a:avLst/>
            <a:gdLst/>
            <a:ahLst/>
            <a:cxnLst/>
            <a:rect r="r" b="b" t="t" l="l"/>
            <a:pathLst>
              <a:path h="327029" w="457068">
                <a:moveTo>
                  <a:pt x="0" y="0"/>
                </a:moveTo>
                <a:lnTo>
                  <a:pt x="457068" y="0"/>
                </a:lnTo>
                <a:lnTo>
                  <a:pt x="457068" y="327029"/>
                </a:lnTo>
                <a:lnTo>
                  <a:pt x="0" y="32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47501" y="2197966"/>
            <a:ext cx="57141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เปรียบเทียบ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09477" y="2197966"/>
            <a:ext cx="1822647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ทั้ง 4 วิธี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12/23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602060" y="3290861"/>
            <a:ext cx="4108214" cy="5110654"/>
            <a:chOff x="0" y="0"/>
            <a:chExt cx="1345140" cy="16733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5140" cy="1673366"/>
            </a:xfrm>
            <a:custGeom>
              <a:avLst/>
              <a:gdLst/>
              <a:ahLst/>
              <a:cxnLst/>
              <a:rect r="r" b="b" t="t" l="l"/>
              <a:pathLst>
                <a:path h="1673366" w="1345140">
                  <a:moveTo>
                    <a:pt x="45228" y="0"/>
                  </a:moveTo>
                  <a:lnTo>
                    <a:pt x="1299912" y="0"/>
                  </a:lnTo>
                  <a:cubicBezTo>
                    <a:pt x="1311908" y="0"/>
                    <a:pt x="1323412" y="4765"/>
                    <a:pt x="1331893" y="13247"/>
                  </a:cubicBezTo>
                  <a:cubicBezTo>
                    <a:pt x="1340375" y="21729"/>
                    <a:pt x="1345140" y="33233"/>
                    <a:pt x="1345140" y="45228"/>
                  </a:cubicBezTo>
                  <a:lnTo>
                    <a:pt x="1345140" y="1628139"/>
                  </a:lnTo>
                  <a:cubicBezTo>
                    <a:pt x="1345140" y="1640134"/>
                    <a:pt x="1340375" y="1651638"/>
                    <a:pt x="1331893" y="1660120"/>
                  </a:cubicBezTo>
                  <a:cubicBezTo>
                    <a:pt x="1323412" y="1668601"/>
                    <a:pt x="1311908" y="1673366"/>
                    <a:pt x="1299912" y="1673366"/>
                  </a:cubicBezTo>
                  <a:lnTo>
                    <a:pt x="45228" y="1673366"/>
                  </a:lnTo>
                  <a:cubicBezTo>
                    <a:pt x="33233" y="1673366"/>
                    <a:pt x="21729" y="1668601"/>
                    <a:pt x="13247" y="1660120"/>
                  </a:cubicBezTo>
                  <a:cubicBezTo>
                    <a:pt x="4765" y="1651638"/>
                    <a:pt x="0" y="1640134"/>
                    <a:pt x="0" y="1628139"/>
                  </a:cubicBezTo>
                  <a:lnTo>
                    <a:pt x="0" y="45228"/>
                  </a:lnTo>
                  <a:cubicBezTo>
                    <a:pt x="0" y="33233"/>
                    <a:pt x="4765" y="21729"/>
                    <a:pt x="13247" y="13247"/>
                  </a:cubicBezTo>
                  <a:cubicBezTo>
                    <a:pt x="21729" y="4765"/>
                    <a:pt x="33233" y="0"/>
                    <a:pt x="45228" y="0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5140" cy="1711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48374" y="2987858"/>
            <a:ext cx="3263038" cy="760835"/>
            <a:chOff x="0" y="0"/>
            <a:chExt cx="746252" cy="1740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252" cy="174002"/>
            </a:xfrm>
            <a:custGeom>
              <a:avLst/>
              <a:gdLst/>
              <a:ahLst/>
              <a:cxnLst/>
              <a:rect r="r" b="b" t="t" l="l"/>
              <a:pathLst>
                <a:path h="174002" w="746252">
                  <a:moveTo>
                    <a:pt x="83041" y="0"/>
                  </a:moveTo>
                  <a:lnTo>
                    <a:pt x="663210" y="0"/>
                  </a:lnTo>
                  <a:cubicBezTo>
                    <a:pt x="709073" y="0"/>
                    <a:pt x="746252" y="37179"/>
                    <a:pt x="746252" y="83041"/>
                  </a:cubicBezTo>
                  <a:lnTo>
                    <a:pt x="746252" y="90960"/>
                  </a:lnTo>
                  <a:cubicBezTo>
                    <a:pt x="746252" y="112984"/>
                    <a:pt x="737503" y="134106"/>
                    <a:pt x="721929" y="149679"/>
                  </a:cubicBezTo>
                  <a:cubicBezTo>
                    <a:pt x="706356" y="165253"/>
                    <a:pt x="685234" y="174002"/>
                    <a:pt x="663210" y="174002"/>
                  </a:cubicBezTo>
                  <a:lnTo>
                    <a:pt x="83041" y="174002"/>
                  </a:lnTo>
                  <a:cubicBezTo>
                    <a:pt x="61017" y="174002"/>
                    <a:pt x="39896" y="165253"/>
                    <a:pt x="24322" y="149679"/>
                  </a:cubicBezTo>
                  <a:cubicBezTo>
                    <a:pt x="8749" y="134106"/>
                    <a:pt x="0" y="112984"/>
                    <a:pt x="0" y="90960"/>
                  </a:cubicBezTo>
                  <a:lnTo>
                    <a:pt x="0" y="83041"/>
                  </a:lnTo>
                  <a:cubicBezTo>
                    <a:pt x="0" y="61017"/>
                    <a:pt x="8749" y="39896"/>
                    <a:pt x="24322" y="24322"/>
                  </a:cubicBezTo>
                  <a:cubicBezTo>
                    <a:pt x="39896" y="8749"/>
                    <a:pt x="61017" y="0"/>
                    <a:pt x="83041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252" cy="22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239849" y="3209208"/>
            <a:ext cx="2880087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0"/>
              </a:lnSpc>
            </a:pPr>
            <a:r>
              <a:rPr lang="en-US" sz="30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ความหมายของผล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02060" y="4283794"/>
            <a:ext cx="3904845" cy="411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37"/>
              </a:lnSpc>
              <a:buFont typeface="Arial"/>
              <a:buChar char="•"/>
            </a:pPr>
            <a:r>
              <a:rPr lang="en-US" sz="23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NSGA-II: กรณีที่รายงาน fault ในชุดข้อมูลนี้ผ่านบน buggy และล้มเหลวบน fixed</a:t>
            </a:r>
          </a:p>
          <a:p>
            <a:pPr algn="l">
              <a:lnSpc>
                <a:spcPts val="2737"/>
              </a:lnSpc>
            </a:pPr>
          </a:p>
          <a:p>
            <a:pPr algn="l" marL="496571" indent="-248285" lvl="1">
              <a:lnSpc>
                <a:spcPts val="2737"/>
              </a:lnSpc>
              <a:buFont typeface="Arial"/>
              <a:buChar char="•"/>
            </a:pPr>
            <a:r>
              <a:rPr lang="en-US" sz="23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AI: ตรวจพบ fault เมื่อชุดทดสอบผ่านบน fixed และมีการล้มเหลวบน buggy</a:t>
            </a:r>
          </a:p>
          <a:p>
            <a:pPr algn="l">
              <a:lnSpc>
                <a:spcPts val="2737"/>
              </a:lnSpc>
            </a:pPr>
          </a:p>
          <a:p>
            <a:pPr algn="l" marL="496571" indent="-248285" lvl="1">
              <a:lnSpc>
                <a:spcPts val="2737"/>
              </a:lnSpc>
              <a:buFont typeface="Arial"/>
              <a:buChar char="•"/>
            </a:pPr>
            <a:r>
              <a:rPr lang="en-US" sz="23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Symflower: ไม่พบ fault หลังแยก developer tests และแก้ false positive</a:t>
            </a:r>
          </a:p>
          <a:p>
            <a:pPr algn="l" marL="0" indent="0" lvl="0">
              <a:lnSpc>
                <a:spcPts val="273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775705">
            <a:off x="15915571" y="2580157"/>
            <a:ext cx="625832" cy="527788"/>
          </a:xfrm>
          <a:custGeom>
            <a:avLst/>
            <a:gdLst/>
            <a:ahLst/>
            <a:cxnLst/>
            <a:rect r="r" b="b" t="t" l="l"/>
            <a:pathLst>
              <a:path h="527788" w="625832">
                <a:moveTo>
                  <a:pt x="0" y="0"/>
                </a:moveTo>
                <a:lnTo>
                  <a:pt x="625831" y="0"/>
                </a:lnTo>
                <a:lnTo>
                  <a:pt x="625831" y="527788"/>
                </a:lnTo>
                <a:lnTo>
                  <a:pt x="0" y="527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62824">
            <a:off x="228016" y="5013672"/>
            <a:ext cx="1019772" cy="101977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762824">
            <a:off x="466353" y="5334887"/>
            <a:ext cx="512885" cy="394806"/>
          </a:xfrm>
          <a:custGeom>
            <a:avLst/>
            <a:gdLst/>
            <a:ahLst/>
            <a:cxnLst/>
            <a:rect r="r" b="b" t="t" l="l"/>
            <a:pathLst>
              <a:path h="394806" w="512885">
                <a:moveTo>
                  <a:pt x="0" y="0"/>
                </a:moveTo>
                <a:lnTo>
                  <a:pt x="512886" y="0"/>
                </a:lnTo>
                <a:lnTo>
                  <a:pt x="512886" y="394805"/>
                </a:lnTo>
                <a:lnTo>
                  <a:pt x="0" y="394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2007440"/>
            <a:ext cx="6452652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Coverage และทรัพยากร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4795" y="2548173"/>
            <a:ext cx="9263264" cy="7136067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-2795198" y="9057002"/>
            <a:ext cx="169328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ค่าเฉลี่ย coverage มาจากกรณีที่มีข้อมูลของแต่ละวิธี ซึ่งเป็นกรณีทดลองคนละชุด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37066" y="8049436"/>
            <a:ext cx="7607837" cy="1407867"/>
            <a:chOff x="0" y="0"/>
            <a:chExt cx="3483272" cy="6445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83272" cy="644576"/>
            </a:xfrm>
            <a:custGeom>
              <a:avLst/>
              <a:gdLst/>
              <a:ahLst/>
              <a:cxnLst/>
              <a:rect r="r" b="b" t="t" l="l"/>
              <a:pathLst>
                <a:path h="644576" w="3483272">
                  <a:moveTo>
                    <a:pt x="3483272" y="37652"/>
                  </a:moveTo>
                  <a:lnTo>
                    <a:pt x="3483272" y="606924"/>
                  </a:lnTo>
                  <a:cubicBezTo>
                    <a:pt x="3483272" y="627719"/>
                    <a:pt x="3466414" y="644576"/>
                    <a:pt x="3445620" y="644576"/>
                  </a:cubicBezTo>
                  <a:lnTo>
                    <a:pt x="37652" y="644576"/>
                  </a:lnTo>
                  <a:cubicBezTo>
                    <a:pt x="16857" y="644576"/>
                    <a:pt x="0" y="627719"/>
                    <a:pt x="0" y="606924"/>
                  </a:cubicBezTo>
                  <a:lnTo>
                    <a:pt x="0" y="37652"/>
                  </a:lnTo>
                  <a:cubicBezTo>
                    <a:pt x="0" y="16857"/>
                    <a:pt x="16857" y="0"/>
                    <a:pt x="37652" y="0"/>
                  </a:cubicBezTo>
                  <a:lnTo>
                    <a:pt x="3445620" y="0"/>
                  </a:lnTo>
                  <a:cubicBezTo>
                    <a:pt x="3466414" y="0"/>
                    <a:pt x="3483272" y="16857"/>
                    <a:pt x="3483272" y="37652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483272" cy="692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3795000"/>
            <a:ext cx="8191981" cy="4177350"/>
            <a:chOff x="0" y="0"/>
            <a:chExt cx="2682276" cy="13677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76" cy="1367777"/>
            </a:xfrm>
            <a:custGeom>
              <a:avLst/>
              <a:gdLst/>
              <a:ahLst/>
              <a:cxnLst/>
              <a:rect r="r" b="b" t="t" l="l"/>
              <a:pathLst>
                <a:path h="1367777" w="2682276">
                  <a:moveTo>
                    <a:pt x="22681" y="0"/>
                  </a:moveTo>
                  <a:lnTo>
                    <a:pt x="2659595" y="0"/>
                  </a:lnTo>
                  <a:cubicBezTo>
                    <a:pt x="2672122" y="0"/>
                    <a:pt x="2682276" y="10155"/>
                    <a:pt x="2682276" y="22681"/>
                  </a:cubicBezTo>
                  <a:lnTo>
                    <a:pt x="2682276" y="1345096"/>
                  </a:lnTo>
                  <a:cubicBezTo>
                    <a:pt x="2682276" y="1351112"/>
                    <a:pt x="2679887" y="1356881"/>
                    <a:pt x="2675633" y="1361134"/>
                  </a:cubicBezTo>
                  <a:cubicBezTo>
                    <a:pt x="2671380" y="1365388"/>
                    <a:pt x="2665610" y="1367777"/>
                    <a:pt x="2659595" y="1367777"/>
                  </a:cubicBezTo>
                  <a:lnTo>
                    <a:pt x="22681" y="1367777"/>
                  </a:lnTo>
                  <a:cubicBezTo>
                    <a:pt x="10155" y="1367777"/>
                    <a:pt x="0" y="1357623"/>
                    <a:pt x="0" y="1345096"/>
                  </a:cubicBezTo>
                  <a:lnTo>
                    <a:pt x="0" y="22681"/>
                  </a:lnTo>
                  <a:cubicBezTo>
                    <a:pt x="0" y="10155"/>
                    <a:pt x="10155" y="0"/>
                    <a:pt x="22681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682276" cy="1405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aphicFrame>
        <p:nvGraphicFramePr>
          <p:cNvPr name="Object 37" id="37"/>
          <p:cNvGraphicFramePr/>
          <p:nvPr/>
        </p:nvGraphicFramePr>
        <p:xfrm>
          <a:off x="9408053" y="4021448"/>
          <a:ext cx="5657850" cy="3143250"/>
        </p:xfrm>
        <a:graphic>
          <a:graphicData uri="http://schemas.openxmlformats.org/presentationml/2006/ole">
            <p:oleObj imgW="6781800" imgH="4267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8" id="38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13/23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68410" y="8268614"/>
            <a:ext cx="6638757" cy="99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</a:pPr>
            <a:r>
              <a:rPr lang="en-US" sz="1951" spc="-4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C</a:t>
            </a:r>
            <a:r>
              <a:rPr lang="en-US" sz="1951" spc="-46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overage แต่ละวิธีมาจากกรณีสำเร็จคนละชุด ส่วน Symflower มีข้อมูล coverage ที่รวม developer tests และขอบเขตต่างกัน จึงยังไม่ใส่ค่ารวมในตารางนี้ เวลาแต่ละวิธีมีขอบเขตต่างกันและไม่ใช่เวลาทดลองทั้งหมด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34252" y="2716862"/>
            <a:ext cx="43643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1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Coverage เฉลี่ยของชุดข้อมูลที่มีค่า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04991" y="3039350"/>
            <a:ext cx="18700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14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เวลาที่บันทึก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1820174">
            <a:off x="15866541" y="7243562"/>
            <a:ext cx="1168293" cy="11682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223450">
            <a:off x="16130348" y="7534598"/>
            <a:ext cx="640678" cy="586220"/>
          </a:xfrm>
          <a:custGeom>
            <a:avLst/>
            <a:gdLst/>
            <a:ahLst/>
            <a:cxnLst/>
            <a:rect r="r" b="b" t="t" l="l"/>
            <a:pathLst>
              <a:path h="586220" w="640678">
                <a:moveTo>
                  <a:pt x="0" y="0"/>
                </a:moveTo>
                <a:lnTo>
                  <a:pt x="640678" y="0"/>
                </a:lnTo>
                <a:lnTo>
                  <a:pt x="640678" y="586220"/>
                </a:lnTo>
                <a:lnTo>
                  <a:pt x="0" y="58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75705">
            <a:off x="15920766" y="2592383"/>
            <a:ext cx="621520" cy="480124"/>
          </a:xfrm>
          <a:custGeom>
            <a:avLst/>
            <a:gdLst/>
            <a:ahLst/>
            <a:cxnLst/>
            <a:rect r="r" b="b" t="t" l="l"/>
            <a:pathLst>
              <a:path h="480124" w="621520">
                <a:moveTo>
                  <a:pt x="0" y="0"/>
                </a:moveTo>
                <a:lnTo>
                  <a:pt x="621519" y="0"/>
                </a:lnTo>
                <a:lnTo>
                  <a:pt x="621519" y="480124"/>
                </a:lnTo>
                <a:lnTo>
                  <a:pt x="0" y="480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36899" y="3146420"/>
            <a:ext cx="7348618" cy="6162501"/>
            <a:chOff x="0" y="0"/>
            <a:chExt cx="2232880" cy="18724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32880" cy="1872478"/>
            </a:xfrm>
            <a:custGeom>
              <a:avLst/>
              <a:gdLst/>
              <a:ahLst/>
              <a:cxnLst/>
              <a:rect r="r" b="b" t="t" l="l"/>
              <a:pathLst>
                <a:path h="1872478" w="2232880">
                  <a:moveTo>
                    <a:pt x="24231" y="0"/>
                  </a:moveTo>
                  <a:lnTo>
                    <a:pt x="2208649" y="0"/>
                  </a:lnTo>
                  <a:cubicBezTo>
                    <a:pt x="2222031" y="0"/>
                    <a:pt x="2232880" y="10849"/>
                    <a:pt x="2232880" y="24231"/>
                  </a:cubicBezTo>
                  <a:lnTo>
                    <a:pt x="2232880" y="1848247"/>
                  </a:lnTo>
                  <a:cubicBezTo>
                    <a:pt x="2232880" y="1854673"/>
                    <a:pt x="2230327" y="1860836"/>
                    <a:pt x="2225783" y="1865381"/>
                  </a:cubicBezTo>
                  <a:cubicBezTo>
                    <a:pt x="2221238" y="1869925"/>
                    <a:pt x="2215075" y="1872478"/>
                    <a:pt x="2208649" y="1872478"/>
                  </a:cubicBezTo>
                  <a:lnTo>
                    <a:pt x="24231" y="1872478"/>
                  </a:lnTo>
                  <a:cubicBezTo>
                    <a:pt x="10849" y="1872478"/>
                    <a:pt x="0" y="1861629"/>
                    <a:pt x="0" y="1848247"/>
                  </a:cubicBezTo>
                  <a:lnTo>
                    <a:pt x="0" y="24231"/>
                  </a:lnTo>
                  <a:cubicBezTo>
                    <a:pt x="0" y="10849"/>
                    <a:pt x="10849" y="0"/>
                    <a:pt x="24231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4458" r="0" b="-1445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1044468">
            <a:off x="7764342" y="2333218"/>
            <a:ext cx="1042835" cy="104283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549486">
            <a:off x="8068724" y="2626958"/>
            <a:ext cx="434072" cy="488029"/>
          </a:xfrm>
          <a:custGeom>
            <a:avLst/>
            <a:gdLst/>
            <a:ahLst/>
            <a:cxnLst/>
            <a:rect r="r" b="b" t="t" l="l"/>
            <a:pathLst>
              <a:path h="488029" w="434072">
                <a:moveTo>
                  <a:pt x="0" y="0"/>
                </a:moveTo>
                <a:lnTo>
                  <a:pt x="434071" y="0"/>
                </a:lnTo>
                <a:lnTo>
                  <a:pt x="434071" y="488030"/>
                </a:lnTo>
                <a:lnTo>
                  <a:pt x="0" y="488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6358" t="-64171" r="-26611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-762824">
            <a:off x="789041" y="5013672"/>
            <a:ext cx="1019772" cy="101977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-762824">
            <a:off x="1018176" y="5314750"/>
            <a:ext cx="561502" cy="417617"/>
          </a:xfrm>
          <a:custGeom>
            <a:avLst/>
            <a:gdLst/>
            <a:ahLst/>
            <a:cxnLst/>
            <a:rect r="r" b="b" t="t" l="l"/>
            <a:pathLst>
              <a:path h="417617" w="561502">
                <a:moveTo>
                  <a:pt x="0" y="0"/>
                </a:moveTo>
                <a:lnTo>
                  <a:pt x="561502" y="0"/>
                </a:lnTo>
                <a:lnTo>
                  <a:pt x="561502" y="417617"/>
                </a:lnTo>
                <a:lnTo>
                  <a:pt x="0" y="417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8" id="38"/>
          <p:cNvGraphicFramePr/>
          <p:nvPr/>
        </p:nvGraphicFramePr>
        <p:xfrm>
          <a:off x="1956721" y="3392360"/>
          <a:ext cx="3771900" cy="3771900"/>
        </p:xfrm>
        <a:graphic>
          <a:graphicData uri="http://schemas.openxmlformats.org/presentationml/2006/ole">
            <p:oleObj imgW="4521200" imgH="45212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9" id="39"/>
          <p:cNvSpPr txBox="true"/>
          <p:nvPr/>
        </p:nvSpPr>
        <p:spPr>
          <a:xfrm rot="0">
            <a:off x="1347501" y="2197966"/>
            <a:ext cx="6452652" cy="96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อภิปรายผลและข้อจำกัด</a:t>
            </a:r>
          </a:p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Discussion &amp; Limitations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14/23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868776" y="3146420"/>
            <a:ext cx="2359195" cy="939598"/>
            <a:chOff x="0" y="0"/>
            <a:chExt cx="539544" cy="2148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544" cy="214885"/>
            </a:xfrm>
            <a:custGeom>
              <a:avLst/>
              <a:gdLst/>
              <a:ahLst/>
              <a:cxnLst/>
              <a:rect r="r" b="b" t="t" l="l"/>
              <a:pathLst>
                <a:path h="214885" w="539544">
                  <a:moveTo>
                    <a:pt x="107442" y="0"/>
                  </a:moveTo>
                  <a:lnTo>
                    <a:pt x="432102" y="0"/>
                  </a:lnTo>
                  <a:cubicBezTo>
                    <a:pt x="491441" y="0"/>
                    <a:pt x="539544" y="48104"/>
                    <a:pt x="539544" y="107442"/>
                  </a:cubicBezTo>
                  <a:lnTo>
                    <a:pt x="539544" y="107442"/>
                  </a:lnTo>
                  <a:cubicBezTo>
                    <a:pt x="539544" y="166781"/>
                    <a:pt x="491441" y="214885"/>
                    <a:pt x="432102" y="214885"/>
                  </a:cubicBezTo>
                  <a:lnTo>
                    <a:pt x="107442" y="214885"/>
                  </a:lnTo>
                  <a:cubicBezTo>
                    <a:pt x="48104" y="214885"/>
                    <a:pt x="0" y="166781"/>
                    <a:pt x="0" y="107442"/>
                  </a:cubicBezTo>
                  <a:lnTo>
                    <a:pt x="0" y="107442"/>
                  </a:lnTo>
                  <a:cubicBezTo>
                    <a:pt x="0" y="48104"/>
                    <a:pt x="48104" y="0"/>
                    <a:pt x="107442" y="0"/>
                  </a:cubicBezTo>
                  <a:close/>
                </a:path>
              </a:pathLst>
            </a:custGeom>
            <a:solidFill>
              <a:srgbClr val="F0C0DA"/>
            </a:solidFill>
            <a:ln w="19050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39544" cy="262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2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966682" y="3486495"/>
            <a:ext cx="2147441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sz="3000" spc="-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ข้อจำกัดสำคัญ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40515" y="4282896"/>
            <a:ext cx="5415718" cy="502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324"/>
              </a:lnSpc>
              <a:buFont typeface="Arial"/>
              <a:buChar char="•"/>
            </a:pPr>
            <a:r>
              <a:rPr lang="en-US" sz="2499" spc="-5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 NSGA-II และ AI ใช้ทิศทางการตรวจพบ fault ต่างกัน</a:t>
            </a:r>
          </a:p>
          <a:p>
            <a:pPr algn="l">
              <a:lnSpc>
                <a:spcPts val="3324"/>
              </a:lnSpc>
            </a:pPr>
          </a:p>
          <a:p>
            <a:pPr algn="l" marL="539749" indent="-269875" lvl="1">
              <a:lnSpc>
                <a:spcPts val="3324"/>
              </a:lnSpc>
              <a:buFont typeface="Arial"/>
              <a:buChar char="•"/>
            </a:pPr>
            <a:r>
              <a:rPr lang="en-US" sz="2499" spc="-5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ค่า coverage ที่ไม่มีข้อมูลไม่แทนด้วยศูนย์</a:t>
            </a:r>
          </a:p>
          <a:p>
            <a:pPr algn="l">
              <a:lnSpc>
                <a:spcPts val="3324"/>
              </a:lnSpc>
            </a:pPr>
          </a:p>
          <a:p>
            <a:pPr algn="l" marL="539749" indent="-269875" lvl="1">
              <a:lnSpc>
                <a:spcPts val="3324"/>
              </a:lnSpc>
              <a:buFont typeface="Arial"/>
              <a:buChar char="•"/>
            </a:pPr>
            <a:r>
              <a:rPr lang="en-US" sz="2499" spc="-5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การเปรียบเทียบ AI บนกรณีร่วมครอบคลุมเฉพาะกรณีที่ทั้งสองวิธีสำเร็จ</a:t>
            </a:r>
          </a:p>
          <a:p>
            <a:pPr algn="l">
              <a:lnSpc>
                <a:spcPts val="3324"/>
              </a:lnSpc>
            </a:pPr>
          </a:p>
          <a:p>
            <a:pPr algn="l" marL="539749" indent="-269875" lvl="1">
              <a:lnSpc>
                <a:spcPts val="3324"/>
              </a:lnSpc>
              <a:buFont typeface="Arial"/>
              <a:buChar char="•"/>
            </a:pPr>
            <a:r>
              <a:rPr lang="en-US" sz="2499" spc="-59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ผลที่รายงานยังไม่ได้ทดสอบความแตกต่างทางสถิติ</a:t>
            </a:r>
          </a:p>
          <a:p>
            <a:pPr algn="l" marL="0" indent="0" lvl="0">
              <a:lnSpc>
                <a:spcPts val="3324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1044468">
            <a:off x="10072196" y="4180623"/>
            <a:ext cx="746766" cy="746766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1044468">
            <a:off x="10072196" y="5415652"/>
            <a:ext cx="746766" cy="746766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1044468">
            <a:off x="10072196" y="6650681"/>
            <a:ext cx="746766" cy="746766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1044468">
            <a:off x="10072196" y="7885710"/>
            <a:ext cx="746766" cy="746766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0301847" y="4406721"/>
            <a:ext cx="287463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b="true" sz="3000" spc="-7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301847" y="5649970"/>
            <a:ext cx="287463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b="true" sz="3000" spc="-7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301847" y="6893218"/>
            <a:ext cx="287463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b="true" sz="3000" spc="-7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01847" y="8136466"/>
            <a:ext cx="287463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0"/>
              </a:lnSpc>
            </a:pPr>
            <a:r>
              <a:rPr lang="en-US" b="true" sz="3000" spc="-7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81247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15702106" y="2519101"/>
            <a:ext cx="1113947" cy="11139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775705">
            <a:off x="15745960" y="2615748"/>
            <a:ext cx="1036195" cy="831335"/>
          </a:xfrm>
          <a:custGeom>
            <a:avLst/>
            <a:gdLst/>
            <a:ahLst/>
            <a:cxnLst/>
            <a:rect r="r" b="b" t="t" l="l"/>
            <a:pathLst>
              <a:path h="831335" w="1036195">
                <a:moveTo>
                  <a:pt x="0" y="0"/>
                </a:moveTo>
                <a:lnTo>
                  <a:pt x="1036196" y="0"/>
                </a:lnTo>
                <a:lnTo>
                  <a:pt x="1036196" y="831336"/>
                </a:lnTo>
                <a:lnTo>
                  <a:pt x="0" y="831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13504" y="3387864"/>
            <a:ext cx="15911799" cy="5186247"/>
            <a:chOff x="0" y="0"/>
            <a:chExt cx="3180620" cy="10366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80620" cy="1036682"/>
            </a:xfrm>
            <a:custGeom>
              <a:avLst/>
              <a:gdLst/>
              <a:ahLst/>
              <a:cxnLst/>
              <a:rect r="r" b="b" t="t" l="l"/>
              <a:pathLst>
                <a:path h="1036682" w="3180620">
                  <a:moveTo>
                    <a:pt x="17029" y="0"/>
                  </a:moveTo>
                  <a:lnTo>
                    <a:pt x="3163590" y="0"/>
                  </a:lnTo>
                  <a:cubicBezTo>
                    <a:pt x="3172995" y="0"/>
                    <a:pt x="3180620" y="7624"/>
                    <a:pt x="3180620" y="17029"/>
                  </a:cubicBezTo>
                  <a:lnTo>
                    <a:pt x="3180620" y="1019653"/>
                  </a:lnTo>
                  <a:cubicBezTo>
                    <a:pt x="3180620" y="1024169"/>
                    <a:pt x="3178826" y="1028501"/>
                    <a:pt x="3175632" y="1031694"/>
                  </a:cubicBezTo>
                  <a:cubicBezTo>
                    <a:pt x="3172438" y="1034888"/>
                    <a:pt x="3168107" y="1036682"/>
                    <a:pt x="3163590" y="1036682"/>
                  </a:cubicBezTo>
                  <a:lnTo>
                    <a:pt x="17029" y="1036682"/>
                  </a:lnTo>
                  <a:cubicBezTo>
                    <a:pt x="12513" y="1036682"/>
                    <a:pt x="8181" y="1034888"/>
                    <a:pt x="4988" y="1031694"/>
                  </a:cubicBezTo>
                  <a:cubicBezTo>
                    <a:pt x="1794" y="1028501"/>
                    <a:pt x="0" y="1024169"/>
                    <a:pt x="0" y="1019653"/>
                  </a:cubicBezTo>
                  <a:lnTo>
                    <a:pt x="0" y="17029"/>
                  </a:lnTo>
                  <a:cubicBezTo>
                    <a:pt x="0" y="12513"/>
                    <a:pt x="1794" y="8181"/>
                    <a:pt x="4988" y="4988"/>
                  </a:cubicBezTo>
                  <a:cubicBezTo>
                    <a:pt x="8181" y="1794"/>
                    <a:pt x="12513" y="0"/>
                    <a:pt x="17029" y="0"/>
                  </a:cubicBezTo>
                  <a:close/>
                </a:path>
              </a:pathLst>
            </a:custGeom>
            <a:solidFill>
              <a:srgbClr val="424141"/>
            </a:solidFill>
            <a:ln w="2857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80620" cy="1074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3256" y="3387864"/>
            <a:ext cx="7602215" cy="5186247"/>
            <a:chOff x="0" y="0"/>
            <a:chExt cx="1519612" cy="10366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19612" cy="1036682"/>
            </a:xfrm>
            <a:custGeom>
              <a:avLst/>
              <a:gdLst/>
              <a:ahLst/>
              <a:cxnLst/>
              <a:rect r="r" b="b" t="t" l="l"/>
              <a:pathLst>
                <a:path h="1036682" w="1519612">
                  <a:moveTo>
                    <a:pt x="35643" y="0"/>
                  </a:moveTo>
                  <a:lnTo>
                    <a:pt x="1483968" y="0"/>
                  </a:lnTo>
                  <a:cubicBezTo>
                    <a:pt x="1503653" y="0"/>
                    <a:pt x="1519612" y="15958"/>
                    <a:pt x="1519612" y="35643"/>
                  </a:cubicBezTo>
                  <a:lnTo>
                    <a:pt x="1519612" y="1001039"/>
                  </a:lnTo>
                  <a:cubicBezTo>
                    <a:pt x="1519612" y="1010492"/>
                    <a:pt x="1515856" y="1019558"/>
                    <a:pt x="1509172" y="1026243"/>
                  </a:cubicBezTo>
                  <a:cubicBezTo>
                    <a:pt x="1502487" y="1032927"/>
                    <a:pt x="1493421" y="1036682"/>
                    <a:pt x="1483968" y="1036682"/>
                  </a:cubicBezTo>
                  <a:lnTo>
                    <a:pt x="35643" y="1036682"/>
                  </a:lnTo>
                  <a:cubicBezTo>
                    <a:pt x="15958" y="1036682"/>
                    <a:pt x="0" y="1020724"/>
                    <a:pt x="0" y="1001039"/>
                  </a:cubicBezTo>
                  <a:lnTo>
                    <a:pt x="0" y="35643"/>
                  </a:lnTo>
                  <a:cubicBezTo>
                    <a:pt x="0" y="15958"/>
                    <a:pt x="15958" y="0"/>
                    <a:pt x="356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19612" cy="1074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62824">
            <a:off x="16326345" y="3539775"/>
            <a:ext cx="969121" cy="96912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762824">
            <a:off x="16537410" y="3698523"/>
            <a:ext cx="534914" cy="788789"/>
          </a:xfrm>
          <a:custGeom>
            <a:avLst/>
            <a:gdLst/>
            <a:ahLst/>
            <a:cxnLst/>
            <a:rect r="r" b="b" t="t" l="l"/>
            <a:pathLst>
              <a:path h="788789" w="534914">
                <a:moveTo>
                  <a:pt x="0" y="0"/>
                </a:moveTo>
                <a:lnTo>
                  <a:pt x="534914" y="0"/>
                </a:lnTo>
                <a:lnTo>
                  <a:pt x="534914" y="788789"/>
                </a:lnTo>
                <a:lnTo>
                  <a:pt x="0" y="788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569056" y="4551593"/>
            <a:ext cx="5829300" cy="47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NSG</a:t>
            </a: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A-II สร้างผลประเมินได้จำนวนมาก แต่ต้องพิจารณาทิศทางของ test oracle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69056" y="5564291"/>
            <a:ext cx="5829300" cy="47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Symflower สร้างชุดทดสอบได้บางกรณี และพบข้อจำกัดในการ compile และประเมินผล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44344" y="4551593"/>
            <a:ext cx="5829300" cy="24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ชุดทดสอบต้องผ่าน</a:t>
            </a: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การตรวจสอบก่อนนำไปสรุปผล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4344" y="5224186"/>
            <a:ext cx="5829300" cy="24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overage และ fault detection อธิบายคุณภาพคนละด้าน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107327" y="4557436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107327" y="5570134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228005" y="4557436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28005" y="5230029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47501" y="2197966"/>
            <a:ext cx="8664378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b="true" sz="4200" spc="-100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สรุปผล &amp;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47485" y="2197966"/>
            <a:ext cx="2232205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</a:pPr>
            <a:r>
              <a:rPr lang="en-US" sz="4200" spc="-100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สิ่งที่เรียนรู้</a:t>
            </a:r>
          </a:p>
        </p:txBody>
      </p:sp>
      <p:grpSp>
        <p:nvGrpSpPr>
          <p:cNvPr name="Group 41" id="41"/>
          <p:cNvGrpSpPr/>
          <p:nvPr/>
        </p:nvGrpSpPr>
        <p:grpSpPr>
          <a:xfrm rot="1820174">
            <a:off x="14443245" y="2543770"/>
            <a:ext cx="1247960" cy="124796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-1223450">
            <a:off x="14762847" y="2819445"/>
            <a:ext cx="618824" cy="673550"/>
          </a:xfrm>
          <a:custGeom>
            <a:avLst/>
            <a:gdLst/>
            <a:ahLst/>
            <a:cxnLst/>
            <a:rect r="r" b="b" t="t" l="l"/>
            <a:pathLst>
              <a:path h="673550" w="618824">
                <a:moveTo>
                  <a:pt x="0" y="0"/>
                </a:moveTo>
                <a:lnTo>
                  <a:pt x="618824" y="0"/>
                </a:lnTo>
                <a:lnTo>
                  <a:pt x="618824" y="673550"/>
                </a:lnTo>
                <a:lnTo>
                  <a:pt x="0" y="6735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1044468">
            <a:off x="801805" y="5336791"/>
            <a:ext cx="887854" cy="88785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-549486">
            <a:off x="1060951" y="5572968"/>
            <a:ext cx="369562" cy="415501"/>
          </a:xfrm>
          <a:custGeom>
            <a:avLst/>
            <a:gdLst/>
            <a:ahLst/>
            <a:cxnLst/>
            <a:rect r="r" b="b" t="t" l="l"/>
            <a:pathLst>
              <a:path h="415501" w="369562">
                <a:moveTo>
                  <a:pt x="0" y="0"/>
                </a:moveTo>
                <a:lnTo>
                  <a:pt x="369562" y="0"/>
                </a:lnTo>
                <a:lnTo>
                  <a:pt x="369562" y="415500"/>
                </a:lnTo>
                <a:lnTo>
                  <a:pt x="0" y="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358" t="-64171" r="-26611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15/23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744344" y="5893984"/>
            <a:ext cx="5829300" cy="47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กา</a:t>
            </a: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รเก็บ source, logs และ configuration ช่วยตรวจสอบผลย้อนหลัง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0228005" y="5899827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107327" y="3810145"/>
            <a:ext cx="2676766" cy="25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b="true" sz="193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สรุปผล: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28005" y="3777020"/>
            <a:ext cx="3851524" cy="25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b="true" sz="1933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สิ่งที่เรียนรู้: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569056" y="6523480"/>
            <a:ext cx="5829300" cy="47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ChatGPT</a:t>
            </a: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มีจำนวน DONE และ fault ที่ตรวจพบมากกว่า Copilot ในชุดทดลองนี้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569056" y="7536178"/>
            <a:ext cx="5829300" cy="47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ก</a:t>
            </a:r>
            <a:r>
              <a:rPr lang="en-US" sz="19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ารเปรียบเทียบ AI บนกรณีร่วมยังให้ค่าที่รายงานสูงกว่าสำหรับ ChatGPT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2107327" y="6529323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2107327" y="7542021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0228005" y="6600897"/>
            <a:ext cx="270955" cy="270955"/>
          </a:xfrm>
          <a:custGeom>
            <a:avLst/>
            <a:gdLst/>
            <a:ahLst/>
            <a:cxnLst/>
            <a:rect r="r" b="b" t="t" l="l"/>
            <a:pathLst>
              <a:path h="270955" w="270955">
                <a:moveTo>
                  <a:pt x="0" y="0"/>
                </a:moveTo>
                <a:lnTo>
                  <a:pt x="270955" y="0"/>
                </a:lnTo>
                <a:lnTo>
                  <a:pt x="270955" y="270955"/>
                </a:lnTo>
                <a:lnTo>
                  <a:pt x="0" y="27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242" t="-499950" r="-350514" b="-40265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0744344" y="6648522"/>
            <a:ext cx="5829300" cy="24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ตัวเลขเป</a:t>
            </a:r>
            <a:r>
              <a:rPr lang="en-US" sz="193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รียบเทียบต้องใช้เกณฑ์และขอบเขตที่ชัดเจน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6949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7501" y="5618972"/>
            <a:ext cx="4296957" cy="2278026"/>
            <a:chOff x="0" y="0"/>
            <a:chExt cx="858922" cy="4553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8922" cy="455356"/>
            </a:xfrm>
            <a:custGeom>
              <a:avLst/>
              <a:gdLst/>
              <a:ahLst/>
              <a:cxnLst/>
              <a:rect r="r" b="b" t="t" l="l"/>
              <a:pathLst>
                <a:path h="455356" w="858922">
                  <a:moveTo>
                    <a:pt x="63060" y="0"/>
                  </a:moveTo>
                  <a:lnTo>
                    <a:pt x="795861" y="0"/>
                  </a:lnTo>
                  <a:cubicBezTo>
                    <a:pt x="812586" y="0"/>
                    <a:pt x="828625" y="6644"/>
                    <a:pt x="840452" y="18470"/>
                  </a:cubicBezTo>
                  <a:cubicBezTo>
                    <a:pt x="852278" y="30296"/>
                    <a:pt x="858922" y="46336"/>
                    <a:pt x="858922" y="63060"/>
                  </a:cubicBezTo>
                  <a:lnTo>
                    <a:pt x="858922" y="392296"/>
                  </a:lnTo>
                  <a:cubicBezTo>
                    <a:pt x="858922" y="427123"/>
                    <a:pt x="830688" y="455356"/>
                    <a:pt x="795861" y="455356"/>
                  </a:cubicBezTo>
                  <a:lnTo>
                    <a:pt x="63060" y="455356"/>
                  </a:lnTo>
                  <a:cubicBezTo>
                    <a:pt x="46336" y="455356"/>
                    <a:pt x="30296" y="448712"/>
                    <a:pt x="18470" y="436886"/>
                  </a:cubicBezTo>
                  <a:cubicBezTo>
                    <a:pt x="6644" y="425060"/>
                    <a:pt x="0" y="409020"/>
                    <a:pt x="0" y="392296"/>
                  </a:cubicBezTo>
                  <a:lnTo>
                    <a:pt x="0" y="63060"/>
                  </a:lnTo>
                  <a:cubicBezTo>
                    <a:pt x="0" y="28233"/>
                    <a:pt x="28233" y="0"/>
                    <a:pt x="63060" y="0"/>
                  </a:cubicBezTo>
                  <a:close/>
                </a:path>
              </a:pathLst>
            </a:custGeom>
            <a:solidFill>
              <a:srgbClr val="424141"/>
            </a:solidFill>
            <a:ln w="2857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58922" cy="502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56283" y="5618972"/>
            <a:ext cx="4296957" cy="2278026"/>
            <a:chOff x="0" y="0"/>
            <a:chExt cx="858922" cy="4553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8922" cy="455356"/>
            </a:xfrm>
            <a:custGeom>
              <a:avLst/>
              <a:gdLst/>
              <a:ahLst/>
              <a:cxnLst/>
              <a:rect r="r" b="b" t="t" l="l"/>
              <a:pathLst>
                <a:path h="455356" w="858922">
                  <a:moveTo>
                    <a:pt x="63060" y="0"/>
                  </a:moveTo>
                  <a:lnTo>
                    <a:pt x="795861" y="0"/>
                  </a:lnTo>
                  <a:cubicBezTo>
                    <a:pt x="812586" y="0"/>
                    <a:pt x="828625" y="6644"/>
                    <a:pt x="840452" y="18470"/>
                  </a:cubicBezTo>
                  <a:cubicBezTo>
                    <a:pt x="852278" y="30296"/>
                    <a:pt x="858922" y="46336"/>
                    <a:pt x="858922" y="63060"/>
                  </a:cubicBezTo>
                  <a:lnTo>
                    <a:pt x="858922" y="392296"/>
                  </a:lnTo>
                  <a:cubicBezTo>
                    <a:pt x="858922" y="427123"/>
                    <a:pt x="830688" y="455356"/>
                    <a:pt x="795861" y="455356"/>
                  </a:cubicBezTo>
                  <a:lnTo>
                    <a:pt x="63060" y="455356"/>
                  </a:lnTo>
                  <a:cubicBezTo>
                    <a:pt x="46336" y="455356"/>
                    <a:pt x="30296" y="448712"/>
                    <a:pt x="18470" y="436886"/>
                  </a:cubicBezTo>
                  <a:cubicBezTo>
                    <a:pt x="6644" y="425060"/>
                    <a:pt x="0" y="409020"/>
                    <a:pt x="0" y="392296"/>
                  </a:cubicBezTo>
                  <a:lnTo>
                    <a:pt x="0" y="63060"/>
                  </a:lnTo>
                  <a:cubicBezTo>
                    <a:pt x="0" y="28233"/>
                    <a:pt x="28233" y="0"/>
                    <a:pt x="63060" y="0"/>
                  </a:cubicBezTo>
                  <a:close/>
                </a:path>
              </a:pathLst>
            </a:custGeom>
            <a:solidFill>
              <a:srgbClr val="85D0B6"/>
            </a:solidFill>
            <a:ln w="2857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58922" cy="502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65065" y="5618972"/>
            <a:ext cx="4296957" cy="2278026"/>
            <a:chOff x="0" y="0"/>
            <a:chExt cx="858922" cy="4553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8922" cy="455356"/>
            </a:xfrm>
            <a:custGeom>
              <a:avLst/>
              <a:gdLst/>
              <a:ahLst/>
              <a:cxnLst/>
              <a:rect r="r" b="b" t="t" l="l"/>
              <a:pathLst>
                <a:path h="455356" w="858922">
                  <a:moveTo>
                    <a:pt x="63060" y="0"/>
                  </a:moveTo>
                  <a:lnTo>
                    <a:pt x="795861" y="0"/>
                  </a:lnTo>
                  <a:cubicBezTo>
                    <a:pt x="812586" y="0"/>
                    <a:pt x="828625" y="6644"/>
                    <a:pt x="840452" y="18470"/>
                  </a:cubicBezTo>
                  <a:cubicBezTo>
                    <a:pt x="852278" y="30296"/>
                    <a:pt x="858922" y="46336"/>
                    <a:pt x="858922" y="63060"/>
                  </a:cubicBezTo>
                  <a:lnTo>
                    <a:pt x="858922" y="392296"/>
                  </a:lnTo>
                  <a:cubicBezTo>
                    <a:pt x="858922" y="427123"/>
                    <a:pt x="830688" y="455356"/>
                    <a:pt x="795861" y="455356"/>
                  </a:cubicBezTo>
                  <a:lnTo>
                    <a:pt x="63060" y="455356"/>
                  </a:lnTo>
                  <a:cubicBezTo>
                    <a:pt x="46336" y="455356"/>
                    <a:pt x="30296" y="448712"/>
                    <a:pt x="18470" y="436886"/>
                  </a:cubicBezTo>
                  <a:cubicBezTo>
                    <a:pt x="6644" y="425060"/>
                    <a:pt x="0" y="409020"/>
                    <a:pt x="0" y="392296"/>
                  </a:cubicBezTo>
                  <a:lnTo>
                    <a:pt x="0" y="63060"/>
                  </a:lnTo>
                  <a:cubicBezTo>
                    <a:pt x="0" y="28233"/>
                    <a:pt x="28233" y="0"/>
                    <a:pt x="63060" y="0"/>
                  </a:cubicBezTo>
                  <a:close/>
                </a:path>
              </a:pathLst>
            </a:custGeom>
            <a:solidFill>
              <a:srgbClr val="BBC8FF"/>
            </a:solidFill>
            <a:ln w="28575" cap="rnd">
              <a:solidFill>
                <a:srgbClr val="42414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58922" cy="502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847066" y="6670239"/>
            <a:ext cx="2985268" cy="63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3"/>
              </a:lnSpc>
            </a:pPr>
            <a:r>
              <a:rPr lang="en-US" sz="1852">
                <a:solidFill>
                  <a:srgbClr val="FEFEFE"/>
                </a:solidFill>
                <a:latin typeface="Aileron"/>
                <a:ea typeface="Aileron"/>
                <a:cs typeface="Aileron"/>
                <a:sym typeface="Aileron"/>
              </a:rPr>
              <a:t>ตั้งค่าเครื่องมือและสภาพแวดล้อม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52332" y="6670239"/>
            <a:ext cx="2988783" cy="63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3"/>
              </a:lnSpc>
            </a:pPr>
            <a:r>
              <a:rPr lang="en-US" sz="185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รันการทดลองสร้าง Test Case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57598" y="6670239"/>
            <a:ext cx="2913132" cy="63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3"/>
              </a:lnSpc>
            </a:pPr>
            <a:r>
              <a:rPr lang="en-US" sz="185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ตรวจสอบผลลัพธ์และ Coverage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1820174">
            <a:off x="958953" y="5780205"/>
            <a:ext cx="825775" cy="82577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1820174">
            <a:off x="7920994" y="2388628"/>
            <a:ext cx="1283805" cy="128380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1223450">
            <a:off x="8185995" y="2674969"/>
            <a:ext cx="759818" cy="713279"/>
          </a:xfrm>
          <a:custGeom>
            <a:avLst/>
            <a:gdLst/>
            <a:ahLst/>
            <a:cxnLst/>
            <a:rect r="r" b="b" t="t" l="l"/>
            <a:pathLst>
              <a:path h="713279" w="759818">
                <a:moveTo>
                  <a:pt x="0" y="0"/>
                </a:moveTo>
                <a:lnTo>
                  <a:pt x="759819" y="0"/>
                </a:lnTo>
                <a:lnTo>
                  <a:pt x="759819" y="713279"/>
                </a:lnTo>
                <a:lnTo>
                  <a:pt x="0" y="713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775705">
            <a:off x="1130099" y="6017704"/>
            <a:ext cx="485923" cy="364442"/>
          </a:xfrm>
          <a:custGeom>
            <a:avLst/>
            <a:gdLst/>
            <a:ahLst/>
            <a:cxnLst/>
            <a:rect r="r" b="b" t="t" l="l"/>
            <a:pathLst>
              <a:path h="364442" w="485923">
                <a:moveTo>
                  <a:pt x="0" y="0"/>
                </a:moveTo>
                <a:lnTo>
                  <a:pt x="485924" y="0"/>
                </a:lnTo>
                <a:lnTo>
                  <a:pt x="485924" y="364442"/>
                </a:lnTo>
                <a:lnTo>
                  <a:pt x="0" y="36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-762824">
            <a:off x="15771652" y="6717601"/>
            <a:ext cx="1138161" cy="113816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-762824">
            <a:off x="16031179" y="7041407"/>
            <a:ext cx="614861" cy="524128"/>
          </a:xfrm>
          <a:custGeom>
            <a:avLst/>
            <a:gdLst/>
            <a:ahLst/>
            <a:cxnLst/>
            <a:rect r="r" b="b" t="t" l="l"/>
            <a:pathLst>
              <a:path h="524128" w="614861">
                <a:moveTo>
                  <a:pt x="0" y="0"/>
                </a:moveTo>
                <a:lnTo>
                  <a:pt x="614861" y="0"/>
                </a:lnTo>
                <a:lnTo>
                  <a:pt x="614861" y="524128"/>
                </a:lnTo>
                <a:lnTo>
                  <a:pt x="0" y="524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47501" y="2350366"/>
            <a:ext cx="5858457" cy="109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4"/>
              </a:lnSpc>
            </a:pPr>
            <a:r>
              <a:rPr lang="en-US" b="true" sz="8993" spc="-215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สาธิต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7501" y="3501075"/>
            <a:ext cx="6122544" cy="109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4"/>
              </a:lnSpc>
            </a:pPr>
            <a:r>
              <a:rPr lang="en-US" sz="8993" spc="-215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การทำงาน</a:t>
            </a:r>
          </a:p>
        </p:txBody>
      </p:sp>
      <p:grpSp>
        <p:nvGrpSpPr>
          <p:cNvPr name="Group 46" id="46"/>
          <p:cNvGrpSpPr/>
          <p:nvPr/>
        </p:nvGrpSpPr>
        <p:grpSpPr>
          <a:xfrm rot="1044468">
            <a:off x="11046792" y="5225223"/>
            <a:ext cx="805955" cy="805955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-549486">
            <a:off x="11256342" y="5413616"/>
            <a:ext cx="392589" cy="389154"/>
          </a:xfrm>
          <a:custGeom>
            <a:avLst/>
            <a:gdLst/>
            <a:ahLst/>
            <a:cxnLst/>
            <a:rect r="r" b="b" t="t" l="l"/>
            <a:pathLst>
              <a:path h="389154" w="392589">
                <a:moveTo>
                  <a:pt x="0" y="0"/>
                </a:moveTo>
                <a:lnTo>
                  <a:pt x="392589" y="0"/>
                </a:lnTo>
                <a:lnTo>
                  <a:pt x="392589" y="389154"/>
                </a:lnTo>
                <a:lnTo>
                  <a:pt x="0" y="389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16/23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565065" y="2071086"/>
            <a:ext cx="6379837" cy="2335436"/>
            <a:chOff x="0" y="0"/>
            <a:chExt cx="2329048" cy="85258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29048" cy="852583"/>
            </a:xfrm>
            <a:custGeom>
              <a:avLst/>
              <a:gdLst/>
              <a:ahLst/>
              <a:cxnLst/>
              <a:rect r="r" b="b" t="t" l="l"/>
              <a:pathLst>
                <a:path h="852583" w="2329048">
                  <a:moveTo>
                    <a:pt x="27910" y="0"/>
                  </a:moveTo>
                  <a:lnTo>
                    <a:pt x="2301138" y="0"/>
                  </a:lnTo>
                  <a:cubicBezTo>
                    <a:pt x="2308540" y="0"/>
                    <a:pt x="2315639" y="2941"/>
                    <a:pt x="2320873" y="8175"/>
                  </a:cubicBezTo>
                  <a:cubicBezTo>
                    <a:pt x="2326108" y="13409"/>
                    <a:pt x="2329048" y="20508"/>
                    <a:pt x="2329048" y="27910"/>
                  </a:cubicBezTo>
                  <a:lnTo>
                    <a:pt x="2329048" y="824673"/>
                  </a:lnTo>
                  <a:cubicBezTo>
                    <a:pt x="2329048" y="832075"/>
                    <a:pt x="2326108" y="839174"/>
                    <a:pt x="2320873" y="844408"/>
                  </a:cubicBezTo>
                  <a:cubicBezTo>
                    <a:pt x="2315639" y="849643"/>
                    <a:pt x="2308540" y="852583"/>
                    <a:pt x="2301138" y="852583"/>
                  </a:cubicBezTo>
                  <a:lnTo>
                    <a:pt x="27910" y="852583"/>
                  </a:lnTo>
                  <a:cubicBezTo>
                    <a:pt x="20508" y="852583"/>
                    <a:pt x="13409" y="849643"/>
                    <a:pt x="8175" y="844408"/>
                  </a:cubicBezTo>
                  <a:cubicBezTo>
                    <a:pt x="2941" y="839174"/>
                    <a:pt x="0" y="832075"/>
                    <a:pt x="0" y="824673"/>
                  </a:cubicBezTo>
                  <a:lnTo>
                    <a:pt x="0" y="27910"/>
                  </a:lnTo>
                  <a:cubicBezTo>
                    <a:pt x="0" y="20508"/>
                    <a:pt x="2941" y="13409"/>
                    <a:pt x="8175" y="8175"/>
                  </a:cubicBezTo>
                  <a:cubicBezTo>
                    <a:pt x="13409" y="2941"/>
                    <a:pt x="20508" y="0"/>
                    <a:pt x="2791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95" r="0" b="-195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47501" y="4979860"/>
            <a:ext cx="2594597" cy="25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7"/>
              </a:lnSpc>
            </a:pPr>
            <a:r>
              <a:rPr lang="en-US" b="true" sz="1933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ขั้นตอนการสาธิต: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-3767670">
            <a:off x="9283215" y="5083460"/>
            <a:ext cx="6089427" cy="4308270"/>
          </a:xfrm>
          <a:custGeom>
            <a:avLst/>
            <a:gdLst/>
            <a:ahLst/>
            <a:cxnLst/>
            <a:rect r="r" b="b" t="t" l="l"/>
            <a:pathLst>
              <a:path h="4308270" w="6089427">
                <a:moveTo>
                  <a:pt x="0" y="0"/>
                </a:moveTo>
                <a:lnTo>
                  <a:pt x="6089427" y="0"/>
                </a:lnTo>
                <a:lnTo>
                  <a:pt x="6089427" y="4308270"/>
                </a:lnTo>
                <a:lnTo>
                  <a:pt x="0" y="4308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064769">
            <a:off x="10423269" y="3893100"/>
            <a:ext cx="6059265" cy="3877929"/>
          </a:xfrm>
          <a:custGeom>
            <a:avLst/>
            <a:gdLst/>
            <a:ahLst/>
            <a:cxnLst/>
            <a:rect r="r" b="b" t="t" l="l"/>
            <a:pathLst>
              <a:path h="3877929" w="6059265">
                <a:moveTo>
                  <a:pt x="0" y="0"/>
                </a:moveTo>
                <a:lnTo>
                  <a:pt x="6059265" y="0"/>
                </a:lnTo>
                <a:lnTo>
                  <a:pt x="6059265" y="3877929"/>
                </a:lnTo>
                <a:lnTo>
                  <a:pt x="0" y="3877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767670">
            <a:off x="12572210" y="4779802"/>
            <a:ext cx="5895498" cy="4023678"/>
          </a:xfrm>
          <a:custGeom>
            <a:avLst/>
            <a:gdLst/>
            <a:ahLst/>
            <a:cxnLst/>
            <a:rect r="r" b="b" t="t" l="l"/>
            <a:pathLst>
              <a:path h="4023678" w="5895498">
                <a:moveTo>
                  <a:pt x="0" y="0"/>
                </a:moveTo>
                <a:lnTo>
                  <a:pt x="5895499" y="0"/>
                </a:lnTo>
                <a:lnTo>
                  <a:pt x="5895499" y="4023677"/>
                </a:lnTo>
                <a:lnTo>
                  <a:pt x="0" y="4023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1044468">
            <a:off x="10264452" y="4645240"/>
            <a:ext cx="1042835" cy="104283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9486">
            <a:off x="10521626" y="4888286"/>
            <a:ext cx="521143" cy="514838"/>
          </a:xfrm>
          <a:custGeom>
            <a:avLst/>
            <a:gdLst/>
            <a:ahLst/>
            <a:cxnLst/>
            <a:rect r="r" b="b" t="t" l="l"/>
            <a:pathLst>
              <a:path h="514838" w="521143">
                <a:moveTo>
                  <a:pt x="0" y="0"/>
                </a:moveTo>
                <a:lnTo>
                  <a:pt x="521143" y="0"/>
                </a:lnTo>
                <a:lnTo>
                  <a:pt x="521143" y="514839"/>
                </a:lnTo>
                <a:lnTo>
                  <a:pt x="0" y="514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1820174">
            <a:off x="7694339" y="2743995"/>
            <a:ext cx="1168293" cy="116829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1223450">
            <a:off x="7882337" y="2948713"/>
            <a:ext cx="783139" cy="749814"/>
          </a:xfrm>
          <a:custGeom>
            <a:avLst/>
            <a:gdLst/>
            <a:ahLst/>
            <a:cxnLst/>
            <a:rect r="r" b="b" t="t" l="l"/>
            <a:pathLst>
              <a:path h="749814" w="783139">
                <a:moveTo>
                  <a:pt x="0" y="0"/>
                </a:moveTo>
                <a:lnTo>
                  <a:pt x="783140" y="0"/>
                </a:lnTo>
                <a:lnTo>
                  <a:pt x="783140" y="749814"/>
                </a:lnTo>
                <a:lnTo>
                  <a:pt x="0" y="74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775705">
            <a:off x="15953640" y="2592437"/>
            <a:ext cx="554359" cy="482230"/>
          </a:xfrm>
          <a:custGeom>
            <a:avLst/>
            <a:gdLst/>
            <a:ahLst/>
            <a:cxnLst/>
            <a:rect r="r" b="b" t="t" l="l"/>
            <a:pathLst>
              <a:path h="482230" w="554359">
                <a:moveTo>
                  <a:pt x="0" y="0"/>
                </a:moveTo>
                <a:lnTo>
                  <a:pt x="554359" y="0"/>
                </a:lnTo>
                <a:lnTo>
                  <a:pt x="554359" y="482231"/>
                </a:lnTo>
                <a:lnTo>
                  <a:pt x="0" y="482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-762824">
            <a:off x="16450112" y="7961626"/>
            <a:ext cx="969121" cy="96912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762824">
            <a:off x="16673171" y="8258867"/>
            <a:ext cx="489854" cy="400494"/>
          </a:xfrm>
          <a:custGeom>
            <a:avLst/>
            <a:gdLst/>
            <a:ahLst/>
            <a:cxnLst/>
            <a:rect r="r" b="b" t="t" l="l"/>
            <a:pathLst>
              <a:path h="400494" w="489854">
                <a:moveTo>
                  <a:pt x="0" y="0"/>
                </a:moveTo>
                <a:lnTo>
                  <a:pt x="489854" y="0"/>
                </a:lnTo>
                <a:lnTo>
                  <a:pt x="489854" y="400494"/>
                </a:lnTo>
                <a:lnTo>
                  <a:pt x="0" y="40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894717" y="4451191"/>
            <a:ext cx="6182416" cy="24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7"/>
              </a:lnSpc>
            </a:pPr>
            <a:r>
              <a:rPr lang="en-US" b="true" sz="10514" spc="-252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4736241" y="7133687"/>
            <a:ext cx="969121" cy="96912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6F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767670">
            <a:off x="9283215" y="5083460"/>
            <a:ext cx="6089427" cy="4308270"/>
          </a:xfrm>
          <a:custGeom>
            <a:avLst/>
            <a:gdLst/>
            <a:ahLst/>
            <a:cxnLst/>
            <a:rect r="r" b="b" t="t" l="l"/>
            <a:pathLst>
              <a:path h="4308270" w="6089427">
                <a:moveTo>
                  <a:pt x="0" y="0"/>
                </a:moveTo>
                <a:lnTo>
                  <a:pt x="6089427" y="0"/>
                </a:lnTo>
                <a:lnTo>
                  <a:pt x="6089427" y="4308270"/>
                </a:lnTo>
                <a:lnTo>
                  <a:pt x="0" y="4308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6064769">
            <a:off x="10423269" y="3893100"/>
            <a:ext cx="6059265" cy="3877929"/>
          </a:xfrm>
          <a:custGeom>
            <a:avLst/>
            <a:gdLst/>
            <a:ahLst/>
            <a:cxnLst/>
            <a:rect r="r" b="b" t="t" l="l"/>
            <a:pathLst>
              <a:path h="3877929" w="6059265">
                <a:moveTo>
                  <a:pt x="0" y="0"/>
                </a:moveTo>
                <a:lnTo>
                  <a:pt x="6059265" y="0"/>
                </a:lnTo>
                <a:lnTo>
                  <a:pt x="6059265" y="3877929"/>
                </a:lnTo>
                <a:lnTo>
                  <a:pt x="0" y="3877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3767670">
            <a:off x="12572210" y="4779802"/>
            <a:ext cx="5895498" cy="4023678"/>
          </a:xfrm>
          <a:custGeom>
            <a:avLst/>
            <a:gdLst/>
            <a:ahLst/>
            <a:cxnLst/>
            <a:rect r="r" b="b" t="t" l="l"/>
            <a:pathLst>
              <a:path h="4023678" w="5895498">
                <a:moveTo>
                  <a:pt x="0" y="0"/>
                </a:moveTo>
                <a:lnTo>
                  <a:pt x="5895499" y="0"/>
                </a:lnTo>
                <a:lnTo>
                  <a:pt x="5895499" y="4023677"/>
                </a:lnTo>
                <a:lnTo>
                  <a:pt x="0" y="4023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044468">
            <a:off x="10264452" y="4645240"/>
            <a:ext cx="1042835" cy="104283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9486">
            <a:off x="10521626" y="4888286"/>
            <a:ext cx="521143" cy="514838"/>
          </a:xfrm>
          <a:custGeom>
            <a:avLst/>
            <a:gdLst/>
            <a:ahLst/>
            <a:cxnLst/>
            <a:rect r="r" b="b" t="t" l="l"/>
            <a:pathLst>
              <a:path h="514838" w="521143">
                <a:moveTo>
                  <a:pt x="0" y="0"/>
                </a:moveTo>
                <a:lnTo>
                  <a:pt x="521143" y="0"/>
                </a:lnTo>
                <a:lnTo>
                  <a:pt x="521143" y="514839"/>
                </a:lnTo>
                <a:lnTo>
                  <a:pt x="0" y="514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1820174">
            <a:off x="7694339" y="2743995"/>
            <a:ext cx="1168293" cy="116829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1223450">
            <a:off x="7882337" y="2948713"/>
            <a:ext cx="783139" cy="749814"/>
          </a:xfrm>
          <a:custGeom>
            <a:avLst/>
            <a:gdLst/>
            <a:ahLst/>
            <a:cxnLst/>
            <a:rect r="r" b="b" t="t" l="l"/>
            <a:pathLst>
              <a:path h="749814" w="783139">
                <a:moveTo>
                  <a:pt x="0" y="0"/>
                </a:moveTo>
                <a:lnTo>
                  <a:pt x="783140" y="0"/>
                </a:lnTo>
                <a:lnTo>
                  <a:pt x="783140" y="749814"/>
                </a:lnTo>
                <a:lnTo>
                  <a:pt x="0" y="74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775705">
            <a:off x="15953640" y="2592437"/>
            <a:ext cx="554359" cy="482230"/>
          </a:xfrm>
          <a:custGeom>
            <a:avLst/>
            <a:gdLst/>
            <a:ahLst/>
            <a:cxnLst/>
            <a:rect r="r" b="b" t="t" l="l"/>
            <a:pathLst>
              <a:path h="482230" w="554359">
                <a:moveTo>
                  <a:pt x="0" y="0"/>
                </a:moveTo>
                <a:lnTo>
                  <a:pt x="554359" y="0"/>
                </a:lnTo>
                <a:lnTo>
                  <a:pt x="554359" y="482231"/>
                </a:lnTo>
                <a:lnTo>
                  <a:pt x="0" y="482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-762824">
            <a:off x="16450112" y="7961626"/>
            <a:ext cx="969121" cy="96912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-762824">
            <a:off x="16673171" y="8258867"/>
            <a:ext cx="489854" cy="400494"/>
          </a:xfrm>
          <a:custGeom>
            <a:avLst/>
            <a:gdLst/>
            <a:ahLst/>
            <a:cxnLst/>
            <a:rect r="r" b="b" t="t" l="l"/>
            <a:pathLst>
              <a:path h="400494" w="489854">
                <a:moveTo>
                  <a:pt x="0" y="0"/>
                </a:moveTo>
                <a:lnTo>
                  <a:pt x="489854" y="0"/>
                </a:lnTo>
                <a:lnTo>
                  <a:pt x="489854" y="400494"/>
                </a:lnTo>
                <a:lnTo>
                  <a:pt x="0" y="40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056971" y="7369597"/>
            <a:ext cx="2334260" cy="496345"/>
          </a:xfrm>
          <a:custGeom>
            <a:avLst/>
            <a:gdLst/>
            <a:ahLst/>
            <a:cxnLst/>
            <a:rect r="r" b="b" t="t" l="l"/>
            <a:pathLst>
              <a:path h="496345" w="2334260">
                <a:moveTo>
                  <a:pt x="0" y="0"/>
                </a:moveTo>
                <a:lnTo>
                  <a:pt x="2334260" y="0"/>
                </a:lnTo>
                <a:lnTo>
                  <a:pt x="2334260" y="496345"/>
                </a:lnTo>
                <a:lnTo>
                  <a:pt x="0" y="4963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47501" y="8327737"/>
            <a:ext cx="3474556" cy="2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7"/>
              </a:lnSpc>
            </a:pPr>
            <a:r>
              <a:rPr lang="en-US" sz="1875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17/23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7501" y="2397991"/>
            <a:ext cx="6182416" cy="126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7"/>
              </a:lnSpc>
            </a:pPr>
            <a:r>
              <a:rPr lang="en-US" b="true" sz="10514" spc="-252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Option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7501" y="6203912"/>
            <a:ext cx="7746599" cy="31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1"/>
              </a:lnSpc>
            </a:pPr>
            <a:r>
              <a:rPr lang="en-US" sz="2415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ส่วนเสริมและข้อมูลเพิ่มเติม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7501" y="8703398"/>
            <a:ext cx="2834655" cy="28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4"/>
              </a:lnSpc>
            </a:pPr>
            <a:r>
              <a:rPr lang="en-US" b="true" sz="2054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วิทยาลัยการคอมพิวเตอร์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7501" y="4725428"/>
            <a:ext cx="7960520" cy="139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2"/>
              </a:lnSpc>
            </a:pPr>
            <a:r>
              <a:rPr lang="en-US" sz="10507" spc="-472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Section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22057" y="8327737"/>
            <a:ext cx="3281202" cy="2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7"/>
              </a:lnSpc>
            </a:pPr>
            <a:r>
              <a:rPr lang="en-US" sz="1875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Appendix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22057" y="8703398"/>
            <a:ext cx="3888845" cy="28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4"/>
              </a:lnSpc>
            </a:pPr>
            <a:r>
              <a:rPr lang="en-US" b="true" sz="2054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Additional Resources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7400992" y="2987732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1820174">
            <a:off x="6624885" y="3638381"/>
            <a:ext cx="1168293" cy="11682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223450">
            <a:off x="6825929" y="3846635"/>
            <a:ext cx="767802" cy="756285"/>
          </a:xfrm>
          <a:custGeom>
            <a:avLst/>
            <a:gdLst/>
            <a:ahLst/>
            <a:cxnLst/>
            <a:rect r="r" b="b" t="t" l="l"/>
            <a:pathLst>
              <a:path h="756285" w="767802">
                <a:moveTo>
                  <a:pt x="0" y="0"/>
                </a:moveTo>
                <a:lnTo>
                  <a:pt x="767802" y="0"/>
                </a:lnTo>
                <a:lnTo>
                  <a:pt x="767802" y="756285"/>
                </a:lnTo>
                <a:lnTo>
                  <a:pt x="0" y="75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75705">
            <a:off x="7655425" y="3082703"/>
            <a:ext cx="538585" cy="831294"/>
          </a:xfrm>
          <a:custGeom>
            <a:avLst/>
            <a:gdLst/>
            <a:ahLst/>
            <a:cxnLst/>
            <a:rect r="r" b="b" t="t" l="l"/>
            <a:pathLst>
              <a:path h="831294" w="538585">
                <a:moveTo>
                  <a:pt x="0" y="0"/>
                </a:moveTo>
                <a:lnTo>
                  <a:pt x="538585" y="0"/>
                </a:lnTo>
                <a:lnTo>
                  <a:pt x="538585" y="831294"/>
                </a:lnTo>
                <a:lnTo>
                  <a:pt x="0" y="83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7652" y="4323416"/>
            <a:ext cx="7004421" cy="8613489"/>
            <a:chOff x="0" y="0"/>
            <a:chExt cx="2293437" cy="28202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3437" cy="2820289"/>
            </a:xfrm>
            <a:custGeom>
              <a:avLst/>
              <a:gdLst/>
              <a:ahLst/>
              <a:cxnLst/>
              <a:rect r="r" b="b" t="t" l="l"/>
              <a:pathLst>
                <a:path h="2820289" w="2293437">
                  <a:moveTo>
                    <a:pt x="26527" y="0"/>
                  </a:moveTo>
                  <a:lnTo>
                    <a:pt x="2266910" y="0"/>
                  </a:lnTo>
                  <a:cubicBezTo>
                    <a:pt x="2273945" y="0"/>
                    <a:pt x="2280693" y="2795"/>
                    <a:pt x="2285667" y="7770"/>
                  </a:cubicBezTo>
                  <a:cubicBezTo>
                    <a:pt x="2290642" y="12744"/>
                    <a:pt x="2293437" y="19492"/>
                    <a:pt x="2293437" y="26527"/>
                  </a:cubicBezTo>
                  <a:lnTo>
                    <a:pt x="2293437" y="2793762"/>
                  </a:lnTo>
                  <a:cubicBezTo>
                    <a:pt x="2293437" y="2808413"/>
                    <a:pt x="2281560" y="2820289"/>
                    <a:pt x="2266910" y="2820289"/>
                  </a:cubicBezTo>
                  <a:lnTo>
                    <a:pt x="26527" y="2820289"/>
                  </a:lnTo>
                  <a:cubicBezTo>
                    <a:pt x="19492" y="2820289"/>
                    <a:pt x="12744" y="2817495"/>
                    <a:pt x="7770" y="2812520"/>
                  </a:cubicBezTo>
                  <a:cubicBezTo>
                    <a:pt x="2795" y="2807545"/>
                    <a:pt x="0" y="2800798"/>
                    <a:pt x="0" y="2793762"/>
                  </a:cubicBezTo>
                  <a:lnTo>
                    <a:pt x="0" y="26527"/>
                  </a:lnTo>
                  <a:cubicBezTo>
                    <a:pt x="0" y="11877"/>
                    <a:pt x="11877" y="0"/>
                    <a:pt x="26527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93437" cy="2858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762824">
            <a:off x="16103557" y="7421894"/>
            <a:ext cx="969121" cy="9691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762824">
            <a:off x="16337104" y="7639688"/>
            <a:ext cx="467279" cy="572366"/>
          </a:xfrm>
          <a:custGeom>
            <a:avLst/>
            <a:gdLst/>
            <a:ahLst/>
            <a:cxnLst/>
            <a:rect r="r" b="b" t="t" l="l"/>
            <a:pathLst>
              <a:path h="572366" w="467279">
                <a:moveTo>
                  <a:pt x="0" y="0"/>
                </a:moveTo>
                <a:lnTo>
                  <a:pt x="467280" y="0"/>
                </a:lnTo>
                <a:lnTo>
                  <a:pt x="467280" y="572366"/>
                </a:lnTo>
                <a:lnTo>
                  <a:pt x="0" y="572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1044468">
            <a:off x="8886335" y="4157418"/>
            <a:ext cx="969104" cy="96910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549486">
            <a:off x="9152395" y="4425663"/>
            <a:ext cx="459526" cy="403944"/>
          </a:xfrm>
          <a:custGeom>
            <a:avLst/>
            <a:gdLst/>
            <a:ahLst/>
            <a:cxnLst/>
            <a:rect r="r" b="b" t="t" l="l"/>
            <a:pathLst>
              <a:path h="403944" w="459526">
                <a:moveTo>
                  <a:pt x="0" y="0"/>
                </a:moveTo>
                <a:lnTo>
                  <a:pt x="459526" y="0"/>
                </a:lnTo>
                <a:lnTo>
                  <a:pt x="459526" y="403944"/>
                </a:lnTo>
                <a:lnTo>
                  <a:pt x="0" y="403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975536" y="1686012"/>
            <a:ext cx="2747395" cy="2335436"/>
            <a:chOff x="0" y="0"/>
            <a:chExt cx="1002975" cy="8525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2975" cy="852583"/>
            </a:xfrm>
            <a:custGeom>
              <a:avLst/>
              <a:gdLst/>
              <a:ahLst/>
              <a:cxnLst/>
              <a:rect r="r" b="b" t="t" l="l"/>
              <a:pathLst>
                <a:path h="852583" w="1002975">
                  <a:moveTo>
                    <a:pt x="64812" y="0"/>
                  </a:moveTo>
                  <a:lnTo>
                    <a:pt x="938163" y="0"/>
                  </a:lnTo>
                  <a:cubicBezTo>
                    <a:pt x="973957" y="0"/>
                    <a:pt x="1002975" y="29017"/>
                    <a:pt x="1002975" y="64812"/>
                  </a:cubicBezTo>
                  <a:lnTo>
                    <a:pt x="1002975" y="787771"/>
                  </a:lnTo>
                  <a:cubicBezTo>
                    <a:pt x="1002975" y="804960"/>
                    <a:pt x="996146" y="821446"/>
                    <a:pt x="983992" y="833600"/>
                  </a:cubicBezTo>
                  <a:cubicBezTo>
                    <a:pt x="971837" y="845755"/>
                    <a:pt x="955352" y="852583"/>
                    <a:pt x="938163" y="852583"/>
                  </a:cubicBezTo>
                  <a:lnTo>
                    <a:pt x="64812" y="852583"/>
                  </a:lnTo>
                  <a:cubicBezTo>
                    <a:pt x="47623" y="852583"/>
                    <a:pt x="31138" y="845755"/>
                    <a:pt x="18983" y="833600"/>
                  </a:cubicBezTo>
                  <a:cubicBezTo>
                    <a:pt x="6828" y="821446"/>
                    <a:pt x="0" y="804960"/>
                    <a:pt x="0" y="787771"/>
                  </a:cubicBezTo>
                  <a:lnTo>
                    <a:pt x="0" y="64812"/>
                  </a:lnTo>
                  <a:cubicBezTo>
                    <a:pt x="0" y="47623"/>
                    <a:pt x="6828" y="31138"/>
                    <a:pt x="18983" y="18983"/>
                  </a:cubicBezTo>
                  <a:cubicBezTo>
                    <a:pt x="31138" y="6828"/>
                    <a:pt x="47623" y="0"/>
                    <a:pt x="64812" y="0"/>
                  </a:cubicBezTo>
                  <a:close/>
                </a:path>
              </a:pathLst>
            </a:custGeom>
            <a:blipFill>
              <a:blip r:embed="rId7"/>
              <a:stretch>
                <a:fillRect l="-448" t="0" r="-448" b="0"/>
              </a:stretch>
            </a:blipFill>
          </p:spPr>
        </p:sp>
      </p:grpSp>
      <p:graphicFrame>
        <p:nvGraphicFramePr>
          <p:cNvPr name="Object 41" id="41"/>
          <p:cNvGraphicFramePr/>
          <p:nvPr/>
        </p:nvGraphicFramePr>
        <p:xfrm>
          <a:off x="1580366" y="4944904"/>
          <a:ext cx="3771900" cy="5657850"/>
        </p:xfrm>
        <a:graphic>
          <a:graphicData uri="http://schemas.openxmlformats.org/presentationml/2006/ole">
            <p:oleObj imgW="4902200" imgH="67818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2" id="42"/>
          <p:cNvGraphicFramePr/>
          <p:nvPr/>
        </p:nvGraphicFramePr>
        <p:xfrm>
          <a:off x="9978209" y="4545974"/>
          <a:ext cx="3771900" cy="3143250"/>
        </p:xfrm>
        <a:graphic>
          <a:graphicData uri="http://schemas.openxmlformats.org/presentationml/2006/ole">
            <p:oleObj imgW="4521200" imgH="3886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3" id="43"/>
          <p:cNvSpPr txBox="true"/>
          <p:nvPr/>
        </p:nvSpPr>
        <p:spPr>
          <a:xfrm rot="0">
            <a:off x="1347501" y="2302741"/>
            <a:ext cx="6023511" cy="94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8"/>
              </a:lnSpc>
            </a:pPr>
            <a:r>
              <a:rPr lang="en-US" b="true" sz="7721" spc="-185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สภาพแวดล้อม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7501" y="3377250"/>
            <a:ext cx="4604884" cy="1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4"/>
              </a:lnSpc>
            </a:pPr>
            <a:r>
              <a:rPr lang="en-US" sz="5177" spc="-124">
                <a:solidFill>
                  <a:srgbClr val="424141"/>
                </a:solidFill>
                <a:latin typeface="Aileron"/>
                <a:ea typeface="Aileron"/>
                <a:cs typeface="Aileron"/>
                <a:sym typeface="Aileron"/>
              </a:rPr>
              <a:t>และ Configuration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066096" y="9273662"/>
            <a:ext cx="800449" cy="2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3"/>
              </a:lnSpc>
            </a:pPr>
            <a:r>
              <a:rPr lang="en-US" b="true" sz="1619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18/23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984236" y="912169"/>
            <a:ext cx="4420755" cy="48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b="true" sz="4023" spc="-96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ตารางผลการทดลอง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5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19/23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746632" y="-346220"/>
            <a:ext cx="20959584" cy="125409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1820174">
            <a:off x="7623960" y="3209303"/>
            <a:ext cx="1168293" cy="11682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223450">
            <a:off x="7886198" y="3489205"/>
            <a:ext cx="642067" cy="610005"/>
          </a:xfrm>
          <a:custGeom>
            <a:avLst/>
            <a:gdLst/>
            <a:ahLst/>
            <a:cxnLst/>
            <a:rect r="r" b="b" t="t" l="l"/>
            <a:pathLst>
              <a:path h="610005" w="642067">
                <a:moveTo>
                  <a:pt x="0" y="0"/>
                </a:moveTo>
                <a:lnTo>
                  <a:pt x="642067" y="0"/>
                </a:lnTo>
                <a:lnTo>
                  <a:pt x="642067" y="610004"/>
                </a:lnTo>
                <a:lnTo>
                  <a:pt x="0" y="610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044468">
            <a:off x="13237118" y="5345885"/>
            <a:ext cx="896607" cy="89660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9486">
            <a:off x="13471306" y="5569760"/>
            <a:ext cx="422228" cy="412818"/>
          </a:xfrm>
          <a:custGeom>
            <a:avLst/>
            <a:gdLst/>
            <a:ahLst/>
            <a:cxnLst/>
            <a:rect r="r" b="b" t="t" l="l"/>
            <a:pathLst>
              <a:path h="412818" w="422228">
                <a:moveTo>
                  <a:pt x="0" y="0"/>
                </a:moveTo>
                <a:lnTo>
                  <a:pt x="422228" y="0"/>
                </a:lnTo>
                <a:lnTo>
                  <a:pt x="422228" y="412818"/>
                </a:lnTo>
                <a:lnTo>
                  <a:pt x="0" y="412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1820174">
            <a:off x="8075944" y="7945784"/>
            <a:ext cx="836182" cy="83618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14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775705">
            <a:off x="8236079" y="8045335"/>
            <a:ext cx="528402" cy="475158"/>
          </a:xfrm>
          <a:custGeom>
            <a:avLst/>
            <a:gdLst/>
            <a:ahLst/>
            <a:cxnLst/>
            <a:rect r="r" b="b" t="t" l="l"/>
            <a:pathLst>
              <a:path h="475158" w="528402">
                <a:moveTo>
                  <a:pt x="0" y="0"/>
                </a:moveTo>
                <a:lnTo>
                  <a:pt x="528402" y="0"/>
                </a:lnTo>
                <a:lnTo>
                  <a:pt x="528402" y="475158"/>
                </a:lnTo>
                <a:lnTo>
                  <a:pt x="0" y="475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32" id="32"/>
          <p:cNvGraphicFramePr/>
          <p:nvPr/>
        </p:nvGraphicFramePr>
        <p:xfrm>
          <a:off x="2264173" y="4096164"/>
          <a:ext cx="5657850" cy="3143250"/>
        </p:xfrm>
        <a:graphic>
          <a:graphicData uri="http://schemas.openxmlformats.org/presentationml/2006/ole">
            <p:oleObj imgW="6781800" imgH="4267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3" id="33"/>
          <p:cNvGraphicFramePr/>
          <p:nvPr/>
        </p:nvGraphicFramePr>
        <p:xfrm>
          <a:off x="9962277" y="4096164"/>
          <a:ext cx="5657850" cy="2514600"/>
        </p:xfrm>
        <a:graphic>
          <a:graphicData uri="http://schemas.openxmlformats.org/presentationml/2006/ole">
            <p:oleObj imgW="6781800" imgH="36449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4" id="34"/>
          <p:cNvSpPr txBox="true"/>
          <p:nvPr/>
        </p:nvSpPr>
        <p:spPr>
          <a:xfrm rot="0">
            <a:off x="1347501" y="2255116"/>
            <a:ext cx="5714120" cy="72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2"/>
              </a:lnSpc>
            </a:pPr>
            <a:r>
              <a:rPr lang="en-US" b="true" sz="6025" spc="-144">
                <a:solidFill>
                  <a:srgbClr val="7363A8"/>
                </a:solidFill>
                <a:latin typeface="Aileron Bold"/>
                <a:ea typeface="Aileron Bold"/>
                <a:cs typeface="Aileron Bold"/>
                <a:sym typeface="Aileron Bold"/>
              </a:rPr>
              <a:t>Token และเวลา AI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20/23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0174">
            <a:off x="15866541" y="7243562"/>
            <a:ext cx="1168293" cy="11682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223450">
            <a:off x="16130348" y="7534598"/>
            <a:ext cx="640678" cy="586220"/>
          </a:xfrm>
          <a:custGeom>
            <a:avLst/>
            <a:gdLst/>
            <a:ahLst/>
            <a:cxnLst/>
            <a:rect r="r" b="b" t="t" l="l"/>
            <a:pathLst>
              <a:path h="586220" w="640678">
                <a:moveTo>
                  <a:pt x="0" y="0"/>
                </a:moveTo>
                <a:lnTo>
                  <a:pt x="640678" y="0"/>
                </a:lnTo>
                <a:lnTo>
                  <a:pt x="640678" y="586220"/>
                </a:lnTo>
                <a:lnTo>
                  <a:pt x="0" y="58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75705">
            <a:off x="15920766" y="2592383"/>
            <a:ext cx="621520" cy="480124"/>
          </a:xfrm>
          <a:custGeom>
            <a:avLst/>
            <a:gdLst/>
            <a:ahLst/>
            <a:cxnLst/>
            <a:rect r="r" b="b" t="t" l="l"/>
            <a:pathLst>
              <a:path h="480124" w="621520">
                <a:moveTo>
                  <a:pt x="0" y="0"/>
                </a:moveTo>
                <a:lnTo>
                  <a:pt x="621519" y="0"/>
                </a:lnTo>
                <a:lnTo>
                  <a:pt x="621519" y="480124"/>
                </a:lnTo>
                <a:lnTo>
                  <a:pt x="0" y="480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161114" y="5064572"/>
            <a:ext cx="1078378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8"/>
              </a:lnSpc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การตรวจสอบผลลัพธ์เป็นขั้นตอนสำคัญในการยืนยันความถูกต้องของ patch ที่สร้างขึ้น โดยใช้ Defects4J framework ในการ validate ผ่านการรัน test suite เดิม หาก patch ผ่านการทดสอบทั้งหมดจะถือว่าเป็น plausible patch สำหรับกรณีที่เกิดข้อผิดพลาด ระบบจะบันทึก log และดำเนินการ recovery โดยอัตโนมัติ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7501" y="2226541"/>
            <a:ext cx="6452652" cy="1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4"/>
              </a:lnSpc>
            </a:pPr>
            <a:r>
              <a:rPr lang="en-US" b="true" sz="5177" spc="-124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การตรวจสอบผลและ Recovery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21/23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30782" y="4322471"/>
            <a:ext cx="5714120" cy="27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44"/>
              </a:lnSpc>
            </a:pPr>
            <a:r>
              <a:rPr lang="en-US" b="true" sz="2175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Recovery Workflow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161114" y="6715620"/>
            <a:ext cx="4972863" cy="947770"/>
            <a:chOff x="0" y="0"/>
            <a:chExt cx="383544" cy="730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3544" cy="73099"/>
            </a:xfrm>
            <a:custGeom>
              <a:avLst/>
              <a:gdLst/>
              <a:ahLst/>
              <a:cxnLst/>
              <a:rect r="r" b="b" t="t" l="l"/>
              <a:pathLst>
                <a:path h="73099" w="383544">
                  <a:moveTo>
                    <a:pt x="36550" y="0"/>
                  </a:moveTo>
                  <a:lnTo>
                    <a:pt x="346995" y="0"/>
                  </a:lnTo>
                  <a:cubicBezTo>
                    <a:pt x="367180" y="0"/>
                    <a:pt x="383544" y="16364"/>
                    <a:pt x="383544" y="36550"/>
                  </a:cubicBezTo>
                  <a:lnTo>
                    <a:pt x="383544" y="36550"/>
                  </a:lnTo>
                  <a:cubicBezTo>
                    <a:pt x="383544" y="46243"/>
                    <a:pt x="379693" y="55540"/>
                    <a:pt x="372839" y="62394"/>
                  </a:cubicBezTo>
                  <a:cubicBezTo>
                    <a:pt x="365985" y="69248"/>
                    <a:pt x="356688" y="73099"/>
                    <a:pt x="346995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42414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83544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92766" y="6711096"/>
            <a:ext cx="4062847" cy="947770"/>
            <a:chOff x="0" y="0"/>
            <a:chExt cx="313357" cy="730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3357" cy="73099"/>
            </a:xfrm>
            <a:custGeom>
              <a:avLst/>
              <a:gdLst/>
              <a:ahLst/>
              <a:cxnLst/>
              <a:rect r="r" b="b" t="t" l="l"/>
              <a:pathLst>
                <a:path h="73099" w="313357">
                  <a:moveTo>
                    <a:pt x="36550" y="0"/>
                  </a:moveTo>
                  <a:lnTo>
                    <a:pt x="276807" y="0"/>
                  </a:lnTo>
                  <a:cubicBezTo>
                    <a:pt x="286501" y="0"/>
                    <a:pt x="295797" y="3851"/>
                    <a:pt x="302652" y="10705"/>
                  </a:cubicBezTo>
                  <a:cubicBezTo>
                    <a:pt x="309506" y="17559"/>
                    <a:pt x="313357" y="26856"/>
                    <a:pt x="313357" y="36550"/>
                  </a:cubicBezTo>
                  <a:lnTo>
                    <a:pt x="313357" y="36550"/>
                  </a:lnTo>
                  <a:cubicBezTo>
                    <a:pt x="313357" y="56735"/>
                    <a:pt x="296993" y="73099"/>
                    <a:pt x="276807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13357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32230" y="7739682"/>
            <a:ext cx="7717323" cy="947770"/>
            <a:chOff x="0" y="0"/>
            <a:chExt cx="595217" cy="730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5217" cy="73099"/>
            </a:xfrm>
            <a:custGeom>
              <a:avLst/>
              <a:gdLst/>
              <a:ahLst/>
              <a:cxnLst/>
              <a:rect r="r" b="b" t="t" l="l"/>
              <a:pathLst>
                <a:path h="73099" w="595217">
                  <a:moveTo>
                    <a:pt x="36550" y="0"/>
                  </a:moveTo>
                  <a:lnTo>
                    <a:pt x="558668" y="0"/>
                  </a:lnTo>
                  <a:cubicBezTo>
                    <a:pt x="578854" y="0"/>
                    <a:pt x="595217" y="16364"/>
                    <a:pt x="595217" y="36550"/>
                  </a:cubicBezTo>
                  <a:lnTo>
                    <a:pt x="595217" y="36550"/>
                  </a:lnTo>
                  <a:cubicBezTo>
                    <a:pt x="595217" y="46243"/>
                    <a:pt x="591367" y="55540"/>
                    <a:pt x="584512" y="62394"/>
                  </a:cubicBezTo>
                  <a:cubicBezTo>
                    <a:pt x="577658" y="69248"/>
                    <a:pt x="568361" y="73099"/>
                    <a:pt x="558668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95217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161114" y="7000593"/>
            <a:ext cx="497286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496" indent="-215748" lvl="1">
              <a:lnSpc>
                <a:spcPts val="2798"/>
              </a:lnSpc>
              <a:buAutoNum type="arabicPeriod" startAt="1"/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Validate patch ด้วย test suite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92766" y="6996069"/>
            <a:ext cx="4062847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496" indent="-215748" lvl="1">
              <a:lnSpc>
                <a:spcPts val="2798"/>
              </a:lnSpc>
              <a:buAutoNum type="arabicPeriod" startAt="1"/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บันทึก error log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32230" y="8024655"/>
            <a:ext cx="771732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496" indent="-215748" lvl="1">
              <a:lnSpc>
                <a:spcPts val="2798"/>
              </a:lnSpc>
              <a:buAutoNum type="arabicPeriod" startAt="1"/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Auto-retry หรือ manual review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47501" y="3880091"/>
            <a:ext cx="4455120" cy="4807362"/>
            <a:chOff x="0" y="0"/>
            <a:chExt cx="1353689" cy="14607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53689" cy="1460718"/>
            </a:xfrm>
            <a:custGeom>
              <a:avLst/>
              <a:gdLst/>
              <a:ahLst/>
              <a:cxnLst/>
              <a:rect r="r" b="b" t="t" l="l"/>
              <a:pathLst>
                <a:path h="1460718" w="1353689">
                  <a:moveTo>
                    <a:pt x="39968" y="0"/>
                  </a:moveTo>
                  <a:lnTo>
                    <a:pt x="1313721" y="0"/>
                  </a:lnTo>
                  <a:cubicBezTo>
                    <a:pt x="1324321" y="0"/>
                    <a:pt x="1334487" y="4211"/>
                    <a:pt x="1341983" y="11706"/>
                  </a:cubicBezTo>
                  <a:cubicBezTo>
                    <a:pt x="1349478" y="19202"/>
                    <a:pt x="1353689" y="29368"/>
                    <a:pt x="1353689" y="39968"/>
                  </a:cubicBezTo>
                  <a:lnTo>
                    <a:pt x="1353689" y="1420750"/>
                  </a:lnTo>
                  <a:cubicBezTo>
                    <a:pt x="1353689" y="1431350"/>
                    <a:pt x="1349478" y="1441516"/>
                    <a:pt x="1341983" y="1449012"/>
                  </a:cubicBezTo>
                  <a:cubicBezTo>
                    <a:pt x="1334487" y="1456507"/>
                    <a:pt x="1324321" y="1460718"/>
                    <a:pt x="1313721" y="1460718"/>
                  </a:cubicBezTo>
                  <a:lnTo>
                    <a:pt x="39968" y="1460718"/>
                  </a:lnTo>
                  <a:cubicBezTo>
                    <a:pt x="29368" y="1460718"/>
                    <a:pt x="19202" y="1456507"/>
                    <a:pt x="11706" y="1449012"/>
                  </a:cubicBezTo>
                  <a:cubicBezTo>
                    <a:pt x="4211" y="1441516"/>
                    <a:pt x="0" y="1431350"/>
                    <a:pt x="0" y="1420750"/>
                  </a:cubicBezTo>
                  <a:lnTo>
                    <a:pt x="0" y="39968"/>
                  </a:lnTo>
                  <a:cubicBezTo>
                    <a:pt x="0" y="29368"/>
                    <a:pt x="4211" y="19202"/>
                    <a:pt x="11706" y="11706"/>
                  </a:cubicBezTo>
                  <a:cubicBezTo>
                    <a:pt x="19202" y="4211"/>
                    <a:pt x="29368" y="0"/>
                    <a:pt x="3996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93" r="0" b="-9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1044468">
            <a:off x="5281204" y="3813885"/>
            <a:ext cx="1042835" cy="104283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-549486">
            <a:off x="5585585" y="4091288"/>
            <a:ext cx="434072" cy="488029"/>
          </a:xfrm>
          <a:custGeom>
            <a:avLst/>
            <a:gdLst/>
            <a:ahLst/>
            <a:cxnLst/>
            <a:rect r="r" b="b" t="t" l="l"/>
            <a:pathLst>
              <a:path h="488029" w="434072">
                <a:moveTo>
                  <a:pt x="0" y="0"/>
                </a:moveTo>
                <a:lnTo>
                  <a:pt x="434072" y="0"/>
                </a:lnTo>
                <a:lnTo>
                  <a:pt x="434072" y="488029"/>
                </a:lnTo>
                <a:lnTo>
                  <a:pt x="0" y="488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6358" t="-64171" r="-26611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-762824">
            <a:off x="789041" y="5013672"/>
            <a:ext cx="1019772" cy="1019772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-762824">
            <a:off x="1018176" y="5314750"/>
            <a:ext cx="561502" cy="417617"/>
          </a:xfrm>
          <a:custGeom>
            <a:avLst/>
            <a:gdLst/>
            <a:ahLst/>
            <a:cxnLst/>
            <a:rect r="r" b="b" t="t" l="l"/>
            <a:pathLst>
              <a:path h="417617" w="561502">
                <a:moveTo>
                  <a:pt x="0" y="0"/>
                </a:moveTo>
                <a:lnTo>
                  <a:pt x="561502" y="0"/>
                </a:lnTo>
                <a:lnTo>
                  <a:pt x="561502" y="417617"/>
                </a:lnTo>
                <a:lnTo>
                  <a:pt x="0" y="417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5903" y="1924157"/>
            <a:ext cx="2193397" cy="2097291"/>
            <a:chOff x="0" y="0"/>
            <a:chExt cx="8500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0046" cy="812800"/>
            </a:xfrm>
            <a:custGeom>
              <a:avLst/>
              <a:gdLst/>
              <a:ahLst/>
              <a:cxnLst/>
              <a:rect r="r" b="b" t="t" l="l"/>
              <a:pathLst>
                <a:path h="812800" w="850046">
                  <a:moveTo>
                    <a:pt x="84712" y="0"/>
                  </a:moveTo>
                  <a:lnTo>
                    <a:pt x="765334" y="0"/>
                  </a:lnTo>
                  <a:cubicBezTo>
                    <a:pt x="787801" y="0"/>
                    <a:pt x="809348" y="8925"/>
                    <a:pt x="825234" y="24811"/>
                  </a:cubicBezTo>
                  <a:cubicBezTo>
                    <a:pt x="841121" y="40698"/>
                    <a:pt x="850046" y="62245"/>
                    <a:pt x="850046" y="84712"/>
                  </a:cubicBezTo>
                  <a:lnTo>
                    <a:pt x="850046" y="728088"/>
                  </a:lnTo>
                  <a:cubicBezTo>
                    <a:pt x="850046" y="774873"/>
                    <a:pt x="812119" y="812800"/>
                    <a:pt x="765334" y="812800"/>
                  </a:cubicBezTo>
                  <a:lnTo>
                    <a:pt x="84712" y="812800"/>
                  </a:lnTo>
                  <a:cubicBezTo>
                    <a:pt x="62245" y="812800"/>
                    <a:pt x="40698" y="803875"/>
                    <a:pt x="24811" y="787989"/>
                  </a:cubicBezTo>
                  <a:cubicBezTo>
                    <a:pt x="8925" y="772102"/>
                    <a:pt x="0" y="750555"/>
                    <a:pt x="0" y="728088"/>
                  </a:cubicBezTo>
                  <a:lnTo>
                    <a:pt x="0" y="84712"/>
                  </a:lnTo>
                  <a:cubicBezTo>
                    <a:pt x="0" y="62245"/>
                    <a:pt x="8925" y="40698"/>
                    <a:pt x="24811" y="24811"/>
                  </a:cubicBezTo>
                  <a:cubicBezTo>
                    <a:pt x="40698" y="8925"/>
                    <a:pt x="62245" y="0"/>
                    <a:pt x="84712" y="0"/>
                  </a:cubicBezTo>
                  <a:close/>
                </a:path>
              </a:pathLst>
            </a:custGeom>
            <a:blipFill>
              <a:blip r:embed="rId2"/>
              <a:stretch>
                <a:fillRect l="-127" t="0" r="-1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355" y="308279"/>
            <a:ext cx="17585291" cy="9670442"/>
            <a:chOff x="0" y="0"/>
            <a:chExt cx="11651965" cy="640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1965" cy="6407608"/>
            </a:xfrm>
            <a:custGeom>
              <a:avLst/>
              <a:gdLst/>
              <a:ahLst/>
              <a:cxnLst/>
              <a:rect r="r" b="b" t="t" l="l"/>
              <a:pathLst>
                <a:path h="6407608" w="11651965">
                  <a:moveTo>
                    <a:pt x="9685" y="0"/>
                  </a:moveTo>
                  <a:lnTo>
                    <a:pt x="11642279" y="0"/>
                  </a:lnTo>
                  <a:cubicBezTo>
                    <a:pt x="11647629" y="0"/>
                    <a:pt x="11651965" y="4336"/>
                    <a:pt x="11651965" y="9685"/>
                  </a:cubicBezTo>
                  <a:lnTo>
                    <a:pt x="11651965" y="6397923"/>
                  </a:lnTo>
                  <a:cubicBezTo>
                    <a:pt x="11651965" y="6403272"/>
                    <a:pt x="11647629" y="6407608"/>
                    <a:pt x="11642279" y="6407608"/>
                  </a:cubicBezTo>
                  <a:lnTo>
                    <a:pt x="9685" y="6407608"/>
                  </a:lnTo>
                  <a:cubicBezTo>
                    <a:pt x="4336" y="6407608"/>
                    <a:pt x="0" y="6403272"/>
                    <a:pt x="0" y="6397923"/>
                  </a:cubicBezTo>
                  <a:lnTo>
                    <a:pt x="0" y="9685"/>
                  </a:lnTo>
                  <a:cubicBezTo>
                    <a:pt x="0" y="4336"/>
                    <a:pt x="4336" y="0"/>
                    <a:pt x="9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51965" cy="6445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327" y="660868"/>
            <a:ext cx="16932895" cy="8924505"/>
            <a:chOff x="0" y="0"/>
            <a:chExt cx="11219690" cy="591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9690" cy="5913352"/>
            </a:xfrm>
            <a:custGeom>
              <a:avLst/>
              <a:gdLst/>
              <a:ahLst/>
              <a:cxnLst/>
              <a:rect r="r" b="b" t="t" l="l"/>
              <a:pathLst>
                <a:path h="5913352" w="11219690">
                  <a:moveTo>
                    <a:pt x="10059" y="0"/>
                  </a:moveTo>
                  <a:lnTo>
                    <a:pt x="11209631" y="0"/>
                  </a:lnTo>
                  <a:cubicBezTo>
                    <a:pt x="11215186" y="0"/>
                    <a:pt x="11219690" y="4503"/>
                    <a:pt x="11219690" y="10059"/>
                  </a:cubicBezTo>
                  <a:lnTo>
                    <a:pt x="11219690" y="5903294"/>
                  </a:lnTo>
                  <a:cubicBezTo>
                    <a:pt x="11219690" y="5908849"/>
                    <a:pt x="11215186" y="5913352"/>
                    <a:pt x="11209631" y="5913352"/>
                  </a:cubicBezTo>
                  <a:lnTo>
                    <a:pt x="10059" y="5913352"/>
                  </a:lnTo>
                  <a:cubicBezTo>
                    <a:pt x="7391" y="5913352"/>
                    <a:pt x="4832" y="5912293"/>
                    <a:pt x="2946" y="5910406"/>
                  </a:cubicBezTo>
                  <a:cubicBezTo>
                    <a:pt x="1060" y="5908520"/>
                    <a:pt x="0" y="5905961"/>
                    <a:pt x="0" y="5903294"/>
                  </a:cubicBezTo>
                  <a:lnTo>
                    <a:pt x="0" y="10059"/>
                  </a:lnTo>
                  <a:cubicBezTo>
                    <a:pt x="0" y="7391"/>
                    <a:pt x="1060" y="4832"/>
                    <a:pt x="2946" y="2946"/>
                  </a:cubicBezTo>
                  <a:cubicBezTo>
                    <a:pt x="4832" y="1060"/>
                    <a:pt x="7391" y="0"/>
                    <a:pt x="1005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24141"/>
              </a:solidFill>
              <a:prstDash val="lg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219690" cy="5951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327" y="660868"/>
            <a:ext cx="16932895" cy="971044"/>
            <a:chOff x="0" y="0"/>
            <a:chExt cx="22577194" cy="12947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2577194" cy="1294725"/>
              <a:chOff x="0" y="0"/>
              <a:chExt cx="2724913" cy="1562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724913" cy="156264"/>
              </a:xfrm>
              <a:custGeom>
                <a:avLst/>
                <a:gdLst/>
                <a:ahLst/>
                <a:cxnLst/>
                <a:rect r="r" b="b" t="t" l="l"/>
                <a:pathLst>
                  <a:path h="156264" w="2724913">
                    <a:moveTo>
                      <a:pt x="18880" y="0"/>
                    </a:moveTo>
                    <a:lnTo>
                      <a:pt x="2706033" y="0"/>
                    </a:lnTo>
                    <a:cubicBezTo>
                      <a:pt x="2716460" y="0"/>
                      <a:pt x="2724913" y="8453"/>
                      <a:pt x="2724913" y="18880"/>
                    </a:cubicBezTo>
                    <a:lnTo>
                      <a:pt x="2724913" y="137384"/>
                    </a:lnTo>
                    <a:cubicBezTo>
                      <a:pt x="2724913" y="147812"/>
                      <a:pt x="2716460" y="156264"/>
                      <a:pt x="2706033" y="156264"/>
                    </a:cubicBezTo>
                    <a:lnTo>
                      <a:pt x="18880" y="156264"/>
                    </a:lnTo>
                    <a:cubicBezTo>
                      <a:pt x="8453" y="156264"/>
                      <a:pt x="0" y="147812"/>
                      <a:pt x="0" y="137384"/>
                    </a:cubicBezTo>
                    <a:lnTo>
                      <a:pt x="0" y="18880"/>
                    </a:lnTo>
                    <a:cubicBezTo>
                      <a:pt x="0" y="8453"/>
                      <a:pt x="8453" y="0"/>
                      <a:pt x="18880" y="0"/>
                    </a:cubicBez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724913" cy="184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1952"/>
              <a:ext cx="22577194" cy="892773"/>
              <a:chOff x="0" y="0"/>
              <a:chExt cx="2724913" cy="10775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724913" cy="107752"/>
              </a:xfrm>
              <a:custGeom>
                <a:avLst/>
                <a:gdLst/>
                <a:ahLst/>
                <a:cxnLst/>
                <a:rect r="r" b="b" t="t" l="l"/>
                <a:pathLst>
                  <a:path h="107752" w="2724913">
                    <a:moveTo>
                      <a:pt x="0" y="0"/>
                    </a:moveTo>
                    <a:lnTo>
                      <a:pt x="2724913" y="0"/>
                    </a:lnTo>
                    <a:lnTo>
                      <a:pt x="2724913" y="107752"/>
                    </a:lnTo>
                    <a:lnTo>
                      <a:pt x="0" y="107752"/>
                    </a:lnTo>
                    <a:close/>
                  </a:path>
                </a:pathLst>
              </a:custGeom>
              <a:solidFill>
                <a:srgbClr val="F0E6F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724913" cy="1363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1820174">
            <a:off x="15710108" y="2311028"/>
            <a:ext cx="1042835" cy="10428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0174">
            <a:off x="15866541" y="7243562"/>
            <a:ext cx="1168293" cy="11682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0B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223450">
            <a:off x="16146192" y="7527979"/>
            <a:ext cx="608185" cy="601093"/>
          </a:xfrm>
          <a:custGeom>
            <a:avLst/>
            <a:gdLst/>
            <a:ahLst/>
            <a:cxnLst/>
            <a:rect r="r" b="b" t="t" l="l"/>
            <a:pathLst>
              <a:path h="601093" w="608185">
                <a:moveTo>
                  <a:pt x="0" y="0"/>
                </a:moveTo>
                <a:lnTo>
                  <a:pt x="608185" y="0"/>
                </a:lnTo>
                <a:lnTo>
                  <a:pt x="608185" y="601093"/>
                </a:lnTo>
                <a:lnTo>
                  <a:pt x="0" y="601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75705">
            <a:off x="15918325" y="2571241"/>
            <a:ext cx="621819" cy="537931"/>
          </a:xfrm>
          <a:custGeom>
            <a:avLst/>
            <a:gdLst/>
            <a:ahLst/>
            <a:cxnLst/>
            <a:rect r="r" b="b" t="t" l="l"/>
            <a:pathLst>
              <a:path h="537931" w="621819">
                <a:moveTo>
                  <a:pt x="0" y="0"/>
                </a:moveTo>
                <a:lnTo>
                  <a:pt x="621819" y="0"/>
                </a:lnTo>
                <a:lnTo>
                  <a:pt x="621819" y="537931"/>
                </a:lnTo>
                <a:lnTo>
                  <a:pt x="0" y="537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161114" y="5064572"/>
            <a:ext cx="1078378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8"/>
              </a:lnSpc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Lang-1 เป็นบั๊กใน Apache Commons Lang เกี่ยวกับ NumberUtils.createNumber() ที่ parse ตัวเลขผิดพลาด ทดสอบด้วย NSGA-II, Symflower, ChatGPT และ Copilot พบว่า Symflower ตรวจจับได้เร็วที่สุด (2.3 วินาที) ส่วน ChatGPT ให้ Line Coverage สูงสุด 87% NSGA-II ใช้เวลา 45 วินาทีแต่ครอบคลุม Branch Coverage 78%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7501" y="2274166"/>
            <a:ext cx="6452652" cy="7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70"/>
              </a:lnSpc>
            </a:pPr>
            <a:r>
              <a:rPr lang="en-US" b="true" sz="6402" spc="-153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กรณีศึกษา Lang-1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944903" y="8935886"/>
            <a:ext cx="1042835" cy="104283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21103" y="9012086"/>
            <a:ext cx="890435" cy="89043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  <a:ln w="38100" cap="sq">
              <a:solidFill>
                <a:srgbClr val="FEFEFE"/>
              </a:solidFill>
              <a:prstDash val="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066096" y="9302237"/>
            <a:ext cx="800449" cy="27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3"/>
              </a:lnSpc>
            </a:pPr>
            <a:r>
              <a:rPr lang="en-US" b="true" sz="2175">
                <a:solidFill>
                  <a:srgbClr val="FEFEFE"/>
                </a:solidFill>
                <a:latin typeface="Aileron Bold"/>
                <a:ea typeface="Aileron Bold"/>
                <a:cs typeface="Aileron Bold"/>
                <a:sym typeface="Aileron Bold"/>
              </a:rPr>
              <a:t>22/23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30782" y="4322471"/>
            <a:ext cx="5714120" cy="27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44"/>
              </a:lnSpc>
            </a:pPr>
            <a:r>
              <a:rPr lang="en-US" b="true" sz="2175">
                <a:solidFill>
                  <a:srgbClr val="424141"/>
                </a:solidFill>
                <a:latin typeface="Aileron Bold"/>
                <a:ea typeface="Aileron Bold"/>
                <a:cs typeface="Aileron Bold"/>
                <a:sym typeface="Aileron Bold"/>
              </a:rPr>
              <a:t>การวิเคราะห์เชิงลึก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161114" y="6715620"/>
            <a:ext cx="4972863" cy="947770"/>
            <a:chOff x="0" y="0"/>
            <a:chExt cx="383544" cy="730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3544" cy="73099"/>
            </a:xfrm>
            <a:custGeom>
              <a:avLst/>
              <a:gdLst/>
              <a:ahLst/>
              <a:cxnLst/>
              <a:rect r="r" b="b" t="t" l="l"/>
              <a:pathLst>
                <a:path h="73099" w="383544">
                  <a:moveTo>
                    <a:pt x="36550" y="0"/>
                  </a:moveTo>
                  <a:lnTo>
                    <a:pt x="346995" y="0"/>
                  </a:lnTo>
                  <a:cubicBezTo>
                    <a:pt x="367180" y="0"/>
                    <a:pt x="383544" y="16364"/>
                    <a:pt x="383544" y="36550"/>
                  </a:cubicBezTo>
                  <a:lnTo>
                    <a:pt x="383544" y="36550"/>
                  </a:lnTo>
                  <a:cubicBezTo>
                    <a:pt x="383544" y="46243"/>
                    <a:pt x="379693" y="55540"/>
                    <a:pt x="372839" y="62394"/>
                  </a:cubicBezTo>
                  <a:cubicBezTo>
                    <a:pt x="365985" y="69248"/>
                    <a:pt x="356688" y="73099"/>
                    <a:pt x="346995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42414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83544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92766" y="6711096"/>
            <a:ext cx="4062847" cy="947770"/>
            <a:chOff x="0" y="0"/>
            <a:chExt cx="313357" cy="730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3357" cy="73099"/>
            </a:xfrm>
            <a:custGeom>
              <a:avLst/>
              <a:gdLst/>
              <a:ahLst/>
              <a:cxnLst/>
              <a:rect r="r" b="b" t="t" l="l"/>
              <a:pathLst>
                <a:path h="73099" w="313357">
                  <a:moveTo>
                    <a:pt x="36550" y="0"/>
                  </a:moveTo>
                  <a:lnTo>
                    <a:pt x="276807" y="0"/>
                  </a:lnTo>
                  <a:cubicBezTo>
                    <a:pt x="286501" y="0"/>
                    <a:pt x="295797" y="3851"/>
                    <a:pt x="302652" y="10705"/>
                  </a:cubicBezTo>
                  <a:cubicBezTo>
                    <a:pt x="309506" y="17559"/>
                    <a:pt x="313357" y="26856"/>
                    <a:pt x="313357" y="36550"/>
                  </a:cubicBezTo>
                  <a:lnTo>
                    <a:pt x="313357" y="36550"/>
                  </a:lnTo>
                  <a:cubicBezTo>
                    <a:pt x="313357" y="56735"/>
                    <a:pt x="296993" y="73099"/>
                    <a:pt x="276807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BBC8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13357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32230" y="7739682"/>
            <a:ext cx="7717323" cy="947770"/>
            <a:chOff x="0" y="0"/>
            <a:chExt cx="595217" cy="730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5217" cy="73099"/>
            </a:xfrm>
            <a:custGeom>
              <a:avLst/>
              <a:gdLst/>
              <a:ahLst/>
              <a:cxnLst/>
              <a:rect r="r" b="b" t="t" l="l"/>
              <a:pathLst>
                <a:path h="73099" w="595217">
                  <a:moveTo>
                    <a:pt x="36550" y="0"/>
                  </a:moveTo>
                  <a:lnTo>
                    <a:pt x="558668" y="0"/>
                  </a:lnTo>
                  <a:cubicBezTo>
                    <a:pt x="578854" y="0"/>
                    <a:pt x="595217" y="16364"/>
                    <a:pt x="595217" y="36550"/>
                  </a:cubicBezTo>
                  <a:lnTo>
                    <a:pt x="595217" y="36550"/>
                  </a:lnTo>
                  <a:cubicBezTo>
                    <a:pt x="595217" y="46243"/>
                    <a:pt x="591367" y="55540"/>
                    <a:pt x="584512" y="62394"/>
                  </a:cubicBezTo>
                  <a:cubicBezTo>
                    <a:pt x="577658" y="69248"/>
                    <a:pt x="568361" y="73099"/>
                    <a:pt x="558668" y="73099"/>
                  </a:cubicBezTo>
                  <a:lnTo>
                    <a:pt x="36550" y="73099"/>
                  </a:lnTo>
                  <a:cubicBezTo>
                    <a:pt x="26856" y="73099"/>
                    <a:pt x="17559" y="69248"/>
                    <a:pt x="10705" y="62394"/>
                  </a:cubicBezTo>
                  <a:cubicBezTo>
                    <a:pt x="3851" y="55540"/>
                    <a:pt x="0" y="46243"/>
                    <a:pt x="0" y="36550"/>
                  </a:cubicBezTo>
                  <a:lnTo>
                    <a:pt x="0" y="36550"/>
                  </a:lnTo>
                  <a:cubicBezTo>
                    <a:pt x="0" y="26856"/>
                    <a:pt x="3851" y="17559"/>
                    <a:pt x="10705" y="10705"/>
                  </a:cubicBezTo>
                  <a:cubicBezTo>
                    <a:pt x="17559" y="3851"/>
                    <a:pt x="26856" y="0"/>
                    <a:pt x="36550" y="0"/>
                  </a:cubicBezTo>
                  <a:close/>
                </a:path>
              </a:pathLst>
            </a:custGeom>
            <a:solidFill>
              <a:srgbClr val="F0C0D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95217" cy="11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161114" y="7000593"/>
            <a:ext cx="497286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Line Coverage: 87% (ChatGPT)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92766" y="6996069"/>
            <a:ext cx="4062847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เวลาตรวจจับ: 2.3 วินาที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32230" y="8024655"/>
            <a:ext cx="771732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Branch Coverage: 50.3% (NSGA-II)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47501" y="3880091"/>
            <a:ext cx="4455120" cy="4807362"/>
            <a:chOff x="0" y="0"/>
            <a:chExt cx="1353689" cy="14607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53689" cy="1460718"/>
            </a:xfrm>
            <a:custGeom>
              <a:avLst/>
              <a:gdLst/>
              <a:ahLst/>
              <a:cxnLst/>
              <a:rect r="r" b="b" t="t" l="l"/>
              <a:pathLst>
                <a:path h="1460718" w="1353689">
                  <a:moveTo>
                    <a:pt x="39968" y="0"/>
                  </a:moveTo>
                  <a:lnTo>
                    <a:pt x="1313721" y="0"/>
                  </a:lnTo>
                  <a:cubicBezTo>
                    <a:pt x="1324321" y="0"/>
                    <a:pt x="1334487" y="4211"/>
                    <a:pt x="1341983" y="11706"/>
                  </a:cubicBezTo>
                  <a:cubicBezTo>
                    <a:pt x="1349478" y="19202"/>
                    <a:pt x="1353689" y="29368"/>
                    <a:pt x="1353689" y="39968"/>
                  </a:cubicBezTo>
                  <a:lnTo>
                    <a:pt x="1353689" y="1420750"/>
                  </a:lnTo>
                  <a:cubicBezTo>
                    <a:pt x="1353689" y="1431350"/>
                    <a:pt x="1349478" y="1441516"/>
                    <a:pt x="1341983" y="1449012"/>
                  </a:cubicBezTo>
                  <a:cubicBezTo>
                    <a:pt x="1334487" y="1456507"/>
                    <a:pt x="1324321" y="1460718"/>
                    <a:pt x="1313721" y="1460718"/>
                  </a:cubicBezTo>
                  <a:lnTo>
                    <a:pt x="39968" y="1460718"/>
                  </a:lnTo>
                  <a:cubicBezTo>
                    <a:pt x="29368" y="1460718"/>
                    <a:pt x="19202" y="1456507"/>
                    <a:pt x="11706" y="1449012"/>
                  </a:cubicBezTo>
                  <a:cubicBezTo>
                    <a:pt x="4211" y="1441516"/>
                    <a:pt x="0" y="1431350"/>
                    <a:pt x="0" y="1420750"/>
                  </a:cubicBezTo>
                  <a:lnTo>
                    <a:pt x="0" y="39968"/>
                  </a:lnTo>
                  <a:cubicBezTo>
                    <a:pt x="0" y="29368"/>
                    <a:pt x="4211" y="19202"/>
                    <a:pt x="11706" y="11706"/>
                  </a:cubicBezTo>
                  <a:cubicBezTo>
                    <a:pt x="19202" y="4211"/>
                    <a:pt x="29368" y="0"/>
                    <a:pt x="3996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3" r="0" b="-9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1044468">
            <a:off x="5281204" y="3813885"/>
            <a:ext cx="1042835" cy="104283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63A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-549486">
            <a:off x="5604823" y="3955787"/>
            <a:ext cx="386671" cy="706249"/>
          </a:xfrm>
          <a:custGeom>
            <a:avLst/>
            <a:gdLst/>
            <a:ahLst/>
            <a:cxnLst/>
            <a:rect r="r" b="b" t="t" l="l"/>
            <a:pathLst>
              <a:path h="706249" w="386671">
                <a:moveTo>
                  <a:pt x="0" y="0"/>
                </a:moveTo>
                <a:lnTo>
                  <a:pt x="386671" y="0"/>
                </a:lnTo>
                <a:lnTo>
                  <a:pt x="386671" y="706248"/>
                </a:lnTo>
                <a:lnTo>
                  <a:pt x="0" y="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-762824">
            <a:off x="789041" y="5013672"/>
            <a:ext cx="1019772" cy="1019772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5A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-762824">
            <a:off x="1024597" y="5334763"/>
            <a:ext cx="519650" cy="395583"/>
          </a:xfrm>
          <a:custGeom>
            <a:avLst/>
            <a:gdLst/>
            <a:ahLst/>
            <a:cxnLst/>
            <a:rect r="r" b="b" t="t" l="l"/>
            <a:pathLst>
              <a:path h="395583" w="519650">
                <a:moveTo>
                  <a:pt x="0" y="0"/>
                </a:moveTo>
                <a:lnTo>
                  <a:pt x="519650" y="0"/>
                </a:lnTo>
                <a:lnTo>
                  <a:pt x="519650" y="395584"/>
                </a:lnTo>
                <a:lnTo>
                  <a:pt x="0" y="3955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220801" y="981798"/>
            <a:ext cx="7827573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3"/>
              </a:lnSpc>
            </a:pPr>
            <a:r>
              <a:rPr lang="en-US" b="true" sz="2013">
                <a:solidFill>
                  <a:srgbClr val="424141"/>
                </a:solidFill>
                <a:latin typeface="DM Sans Bold"/>
                <a:ea typeface="DM Sans Bold"/>
                <a:cs typeface="DM Sans Bold"/>
                <a:sym typeface="DM Sans Bold"/>
              </a:rPr>
              <a:t>CP353201 Software Quality Assurance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7501" y="981798"/>
            <a:ext cx="2834655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ภาคต้น 2569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04991" y="981798"/>
            <a:ext cx="4844897" cy="26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93"/>
              </a:lnSpc>
            </a:pPr>
            <a:r>
              <a:rPr lang="en-US" sz="2013">
                <a:solidFill>
                  <a:srgbClr val="424141"/>
                </a:solidFill>
                <a:latin typeface="DM Sans"/>
                <a:ea typeface="DM Sans"/>
                <a:cs typeface="DM Sans"/>
                <a:sym typeface="DM Sans"/>
              </a:rPr>
              <a:t>มหาวิทยาลัยขอนแก่น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DAHXC2jR54I</dc:identifier>
  <dcterms:modified xsi:type="dcterms:W3CDTF">2011-08-01T06:04:30Z</dcterms:modified>
  <cp:revision>1</cp:revision>
  <dc:title>ester</dc:title>
</cp:coreProperties>
</file>